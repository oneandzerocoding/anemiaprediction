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human stakes: anaemia affects 1.6 billion+ people. A CBC is cheap but reading it needs expertise that is scarce. Our project predicts anaemia from CBC AND explains every prediction. Stress the disclaimer: educational prototype,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and compare three models, explain every prediction with SHAP and LIME, and evaluate on five metrics. The honest twist: the label is derived from a haemoglobin threshold, so models hit ~100% by re-learning that rule — label leakage. We disclose and prove it. Our contribution is the transparent pipeline, not the accuracy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anaemia diagnosis is slow and error-prone in resource-constrained settings, and black-box AI is not trusted by clinicians. Then walk the five objectives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clinician reads each CBC by hand — accurate but slow and expert-dependent. Prior ML chased accuracy alone. Three limitations: black boxes with no justification, ignored label leakage with inflated accuracy, and rarely a usable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prioritises trust and comparison over raw accuracy. Compare three models on five metrics; attach SHAP and LIME to every prediction; run the two-track full vs nohb experiment to locate the predictive power; ship as a Streamlit app; keep the educational framing and disclaimer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stack: Python 3.11, scikit-learn for RF/SVM/preprocessing/metrics, XGBoost, SHAP and LIME for explainability, Streamlit for the UI, joblib for persistence, and the usual data/plot libraries. Environment is a venv plus Jupyter. Hardware: any laptop, dataset is tiny, no GPU. Functionally: enter CBC values, get prediction + confidence + a SHAP/LIME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layers left to right: data layer cleans and splits and scales the CBC CSV; model layer holds the three trained classifiers saved as pkl; explainability layer computes SHAP and LIME attributions; presentation layer is the Streamlit app. The key engineering point: all reusable logic lives in src, so notebooks and the app import the same code and never diverge.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Clean: 1421 raw rows down to 534 unique after dropping 887 duplicate patients. Split: stratified 80/20 keeping the class balance. Scale: StandardScaler fit on train only, because SVM is distance-based. Train: same split for all three, random_state 42 for reproducibility. Evaluate: the five metrics plus confusion matrix and ROC. Explain: SHAP global and local plus one LIME example. The next slide shows the leakage scatter.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FIGURE: fig_leakage_hb_scatter.png. This scatter shows haemoglobin against the class label — the label flips cleanly at a haemoglobin threshold, which is the visual proof of the label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comparison on the full track: RF and XGBoost both hit F1 of 1.00, SVM 0.96. We select XGBoost — the literature pick, and SHAP's TreeExplainer handles it exactly. But the scores are high because of label leakage. The robustness check: remove haemoglobin (nohb track) and performance collapses to roughly chance, AUC 0.48 to 0.63, proving the skill came from Hb. SHAP and LIME independently agree haemoglobin dominates. The web app ties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FIGURES into the four slots: fig_metrics_comparison.png (bar chart of five metrics across the three models), fig_roc_full.png (ROC curves, full track), fig_shap_beeswarm_full.png (SHAP beeswarm global importance), fig_lime_full_anaemic.png (LIME explanation for one anaemic case). Use the two that best fit your slot when presenting; delete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we built a full reproducible ML plus Explainable-AI pipeline for anaemia screening. The real contribution is the model comparison, the SHAP and LIME explanations, and the methodological honesty of diagnosing and disclosing the leakage — not the accuracy number. Future scope: a dataset with an independent clinical label, adding RBC and haematocrit, extending to anaemia-type classification, and clinical validation. Close on the disclaimer.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51220"/>
        </a:solidFill>
      </p:bgPr>
    </p:bg>
    <p:spTree>
      <p:nvGrpSpPr>
        <p:cNvPr id="1" name=""/>
        <p:cNvGrpSpPr/>
        <p:nvPr/>
      </p:nvGrpSpPr>
      <p:grpSpPr>
        <a:xfrm>
          <a:off x="0" y="0"/>
          <a:ext cx="0" cy="0"/>
          <a:chOff x="0" y="0"/>
          <a:chExt cx="0" cy="0"/>
        </a:xfrm>
      </p:grpSpPr>
      <p:sp>
        <p:nvSpPr>
          <p:cNvPr id="2" name="Text 0"/>
          <p:cNvSpPr/>
          <p:nvPr/>
        </p:nvSpPr>
        <p:spPr>
          <a:xfrm>
            <a:off x="1047750" y="1642914"/>
            <a:ext cx="1223772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E6B7B0"/>
                </a:solidFill>
                <a:latin typeface="Courier New" pitchFamily="34" charset="0"/>
                <a:ea typeface="Courier New" pitchFamily="34" charset="-122"/>
                <a:cs typeface="Courier New" pitchFamily="34" charset="-120"/>
              </a:rPr>
              <a:t>CSE MINI PROJECT · MATRUSRI ENGINEERING COLLEGE</a:t>
            </a:r>
            <a:endParaRPr lang="en-US" sz="1800" dirty="0"/>
          </a:p>
        </p:txBody>
      </p:sp>
      <p:sp>
        <p:nvSpPr>
          <p:cNvPr id="3" name="Text 1"/>
          <p:cNvSpPr/>
          <p:nvPr/>
        </p:nvSpPr>
        <p:spPr>
          <a:xfrm>
            <a:off x="1047750" y="2223939"/>
            <a:ext cx="11458956" cy="2486174"/>
          </a:xfrm>
          <a:prstGeom prst="rect">
            <a:avLst/>
          </a:prstGeom>
          <a:noFill/>
          <a:ln/>
        </p:spPr>
        <p:txBody>
          <a:bodyPr wrap="square" lIns="25400" tIns="25400" rIns="25400" bIns="25400" rtlCol="0" anchor="t">
            <a:normAutofit/>
          </a:bodyPr>
          <a:lstStyle/>
          <a:p>
            <a:pPr algn="l" indent="0" marL="0">
              <a:lnSpc>
                <a:spcPct val="102000"/>
              </a:lnSpc>
              <a:buNone/>
            </a:pPr>
            <a:r>
              <a:rPr lang="en-US" sz="6300" b="1" spc="-158" kern="0" dirty="0">
                <a:solidFill>
                  <a:srgbClr val="F7F1E9"/>
                </a:solidFill>
                <a:latin typeface="Arial" pitchFamily="34" charset="0"/>
                <a:ea typeface="Arial" pitchFamily="34" charset="-122"/>
                <a:cs typeface="Arial" pitchFamily="34" charset="-120"/>
              </a:rPr>
              <a:t>Anaemia Prediction using Machine Learning </a:t>
            </a:r>
            <a:pPr algn="l" indent="0" marL="0">
              <a:lnSpc>
                <a:spcPct val="102000"/>
              </a:lnSpc>
              <a:buNone/>
            </a:pPr>
            <a:r>
              <a:rPr lang="en-US" sz="6300" b="1" spc="-158" kern="0" dirty="0">
                <a:solidFill>
                  <a:srgbClr val="E89A92"/>
                </a:solidFill>
                <a:latin typeface="Arial" pitchFamily="34" charset="0"/>
                <a:ea typeface="Arial" pitchFamily="34" charset="-122"/>
                <a:cs typeface="Arial" pitchFamily="34" charset="-120"/>
              </a:rPr>
              <a:t>&amp; Explainable AI</a:t>
            </a:r>
            <a:endParaRPr lang="en-US" sz="6300" dirty="0"/>
          </a:p>
        </p:txBody>
      </p:sp>
      <p:sp>
        <p:nvSpPr>
          <p:cNvPr id="4" name="Text 2"/>
          <p:cNvSpPr/>
          <p:nvPr/>
        </p:nvSpPr>
        <p:spPr>
          <a:xfrm>
            <a:off x="1047750" y="5014913"/>
            <a:ext cx="36195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E89A92"/>
                </a:solidFill>
                <a:latin typeface="Arial" pitchFamily="34" charset="0"/>
                <a:ea typeface="Arial" pitchFamily="34" charset="-122"/>
                <a:cs typeface="Arial" pitchFamily="34" charset="-120"/>
              </a:rPr>
              <a:t>→</a:t>
            </a:r>
            <a:endParaRPr lang="en-US" sz="2250" dirty="0"/>
          </a:p>
        </p:txBody>
      </p:sp>
      <p:sp>
        <p:nvSpPr>
          <p:cNvPr id="5" name="Text 3"/>
          <p:cNvSpPr/>
          <p:nvPr/>
        </p:nvSpPr>
        <p:spPr>
          <a:xfrm>
            <a:off x="1485900" y="5014913"/>
            <a:ext cx="6860307" cy="447675"/>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F0DAD6"/>
                </a:solidFill>
                <a:latin typeface="Arial" pitchFamily="34" charset="0"/>
                <a:ea typeface="Arial" pitchFamily="34" charset="-122"/>
                <a:cs typeface="Arial" pitchFamily="34" charset="-120"/>
              </a:rPr>
              <a:t>1.6 billion+ </a:t>
            </a:r>
            <a:pPr algn="l" indent="0" marL="0">
              <a:lnSpc>
                <a:spcPct val="140000"/>
              </a:lnSpc>
              <a:buNone/>
            </a:pPr>
            <a:r>
              <a:rPr lang="en-US" sz="2250" dirty="0">
                <a:solidFill>
                  <a:srgbClr val="F0DAD6"/>
                </a:solidFill>
                <a:latin typeface="Arial" pitchFamily="34" charset="0"/>
                <a:ea typeface="Arial" pitchFamily="34" charset="-122"/>
                <a:cs typeface="Arial" pitchFamily="34" charset="-120"/>
              </a:rPr>
              <a:t>people live with anaemia worldwide.</a:t>
            </a:r>
            <a:endParaRPr lang="en-US" sz="2250" dirty="0"/>
          </a:p>
        </p:txBody>
      </p:sp>
      <p:sp>
        <p:nvSpPr>
          <p:cNvPr id="6" name="Text 4"/>
          <p:cNvSpPr/>
          <p:nvPr/>
        </p:nvSpPr>
        <p:spPr>
          <a:xfrm>
            <a:off x="1047750" y="5576888"/>
            <a:ext cx="36195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E89A92"/>
                </a:solidFill>
                <a:latin typeface="Arial" pitchFamily="34" charset="0"/>
                <a:ea typeface="Arial" pitchFamily="34" charset="-122"/>
                <a:cs typeface="Arial" pitchFamily="34" charset="-120"/>
              </a:rPr>
              <a:t>→</a:t>
            </a:r>
            <a:endParaRPr lang="en-US" sz="2250" dirty="0"/>
          </a:p>
        </p:txBody>
      </p:sp>
      <p:sp>
        <p:nvSpPr>
          <p:cNvPr id="7" name="Text 5"/>
          <p:cNvSpPr/>
          <p:nvPr/>
        </p:nvSpPr>
        <p:spPr>
          <a:xfrm>
            <a:off x="1485900" y="5576888"/>
            <a:ext cx="7004876"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F0DAD6"/>
                </a:solidFill>
                <a:latin typeface="Arial" pitchFamily="34" charset="0"/>
                <a:ea typeface="Arial" pitchFamily="34" charset="-122"/>
                <a:cs typeface="Arial" pitchFamily="34" charset="-120"/>
              </a:rPr>
              <a:t>A CBC blood test is cheap and common — but reading it needs expertise that is scarce in low-resource settings.</a:t>
            </a:r>
            <a:endParaRPr lang="en-US" sz="2250" dirty="0"/>
          </a:p>
        </p:txBody>
      </p:sp>
      <p:sp>
        <p:nvSpPr>
          <p:cNvPr id="8" name="Text 6"/>
          <p:cNvSpPr/>
          <p:nvPr/>
        </p:nvSpPr>
        <p:spPr>
          <a:xfrm>
            <a:off x="1047750" y="6929438"/>
            <a:ext cx="361950"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E89A92"/>
                </a:solidFill>
                <a:latin typeface="Arial" pitchFamily="34" charset="0"/>
                <a:ea typeface="Arial" pitchFamily="34" charset="-122"/>
                <a:cs typeface="Arial" pitchFamily="34" charset="-120"/>
              </a:rPr>
              <a:t>→</a:t>
            </a:r>
            <a:endParaRPr lang="en-US" sz="2250" dirty="0"/>
          </a:p>
        </p:txBody>
      </p:sp>
      <p:sp>
        <p:nvSpPr>
          <p:cNvPr id="9" name="Text 7"/>
          <p:cNvSpPr/>
          <p:nvPr/>
        </p:nvSpPr>
        <p:spPr>
          <a:xfrm>
            <a:off x="1485900" y="6929438"/>
            <a:ext cx="7004876"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F0DAD6"/>
                </a:solidFill>
                <a:latin typeface="Arial" pitchFamily="34" charset="0"/>
                <a:ea typeface="Arial" pitchFamily="34" charset="-122"/>
                <a:cs typeface="Arial" pitchFamily="34" charset="-120"/>
              </a:rPr>
              <a:t>We predict anaemia from CBC values — and explain every prediction.</a:t>
            </a:r>
            <a:endParaRPr lang="en-US" sz="2250" dirty="0"/>
          </a:p>
        </p:txBody>
      </p:sp>
      <p:sp>
        <p:nvSpPr>
          <p:cNvPr id="10" name="Shape 8"/>
          <p:cNvSpPr/>
          <p:nvPr/>
        </p:nvSpPr>
        <p:spPr>
          <a:xfrm>
            <a:off x="1047750" y="8148638"/>
            <a:ext cx="9580959" cy="571500"/>
          </a:xfrm>
          <a:prstGeom prst="roundRect">
            <a:avLst>
              <a:gd name="adj" fmla="val 50000"/>
            </a:avLst>
          </a:prstGeom>
          <a:solidFill>
            <a:srgbClr val="FFFFFF">
              <a:alpha val="8000"/>
            </a:srgbClr>
          </a:solidFill>
          <a:ln w="9525">
            <a:solidFill>
              <a:srgbClr val="FFFFFF">
                <a:alpha val="18000"/>
              </a:srgbClr>
            </a:solidFill>
            <a:prstDash val="solid"/>
          </a:ln>
        </p:spPr>
      </p:sp>
      <p:sp>
        <p:nvSpPr>
          <p:cNvPr id="11" name="Text 9"/>
          <p:cNvSpPr/>
          <p:nvPr/>
        </p:nvSpPr>
        <p:spPr>
          <a:xfrm>
            <a:off x="1304925" y="8291513"/>
            <a:ext cx="9354038" cy="323850"/>
          </a:xfrm>
          <a:prstGeom prst="rect">
            <a:avLst/>
          </a:prstGeom>
          <a:noFill/>
          <a:ln/>
        </p:spPr>
        <p:txBody>
          <a:bodyPr wrap="square" lIns="25400" tIns="25400" rIns="25400" bIns="25400" rtlCol="0" anchor="ctr">
            <a:normAutofit/>
          </a:bodyPr>
          <a:lstStyle/>
          <a:p>
            <a:pPr algn="l" indent="0" marL="0">
              <a:buNone/>
            </a:pPr>
            <a:r>
              <a:rPr lang="en-US" sz="1725" spc="69" kern="0" dirty="0">
                <a:solidFill>
                  <a:srgbClr val="F3E1DD"/>
                </a:solidFill>
                <a:latin typeface="Courier New" pitchFamily="34" charset="0"/>
                <a:ea typeface="Courier New" pitchFamily="34" charset="-122"/>
                <a:cs typeface="Courier New" pitchFamily="34" charset="-120"/>
              </a:rPr>
              <a:t>⚠ Educational decision-support prototype — not a diagnostic tool</a:t>
            </a:r>
            <a:endParaRPr lang="en-US" sz="1725"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954000" y="3086100"/>
            <a:ext cx="4191000" cy="4191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04938"/>
            <a:ext cx="209550" cy="209550"/>
          </a:xfrm>
          <a:prstGeom prst="rect">
            <a:avLst/>
          </a:prstGeom>
        </p:spPr>
      </p:pic>
      <p:sp>
        <p:nvSpPr>
          <p:cNvPr id="3" name="Text 0"/>
          <p:cNvSpPr/>
          <p:nvPr/>
        </p:nvSpPr>
        <p:spPr>
          <a:xfrm>
            <a:off x="1371600" y="135255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3144500" y="5334000"/>
            <a:ext cx="5334000" cy="5334000"/>
          </a:xfrm>
          <a:prstGeom prst="rect">
            <a:avLst/>
          </a:prstGeom>
        </p:spPr>
      </p:pic>
      <p:sp>
        <p:nvSpPr>
          <p:cNvPr id="5" name="Text 1"/>
          <p:cNvSpPr/>
          <p:nvPr/>
        </p:nvSpPr>
        <p:spPr>
          <a:xfrm>
            <a:off x="1047750" y="1838325"/>
            <a:ext cx="3615229"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Abstract</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02</a:t>
            </a:r>
            <a:endParaRPr lang="en-US" sz="3600" dirty="0"/>
          </a:p>
        </p:txBody>
      </p:sp>
      <p:sp>
        <p:nvSpPr>
          <p:cNvPr id="8" name="Shape 3"/>
          <p:cNvSpPr/>
          <p:nvPr/>
        </p:nvSpPr>
        <p:spPr>
          <a:xfrm>
            <a:off x="1047750" y="2809875"/>
            <a:ext cx="8743950" cy="5391150"/>
          </a:xfrm>
          <a:prstGeom prst="roundRect">
            <a:avLst>
              <a:gd name="adj" fmla="val 3180"/>
            </a:avLst>
          </a:prstGeom>
          <a:solidFill>
            <a:srgbClr val="EDE4D6"/>
          </a:solidFill>
          <a:ln w="9525">
            <a:solidFill>
              <a:srgbClr val="E2D7C7"/>
            </a:solidFill>
            <a:prstDash val="solid"/>
          </a:ln>
        </p:spPr>
      </p:sp>
      <p:sp>
        <p:nvSpPr>
          <p:cNvPr id="9" name="Text 4"/>
          <p:cNvSpPr/>
          <p:nvPr/>
        </p:nvSpPr>
        <p:spPr>
          <a:xfrm>
            <a:off x="1419225" y="3162300"/>
            <a:ext cx="8801100"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7C1D2A"/>
                </a:solidFill>
                <a:latin typeface="Courier New" pitchFamily="34" charset="0"/>
                <a:ea typeface="Courier New" pitchFamily="34" charset="-122"/>
                <a:cs typeface="Courier New" pitchFamily="34" charset="-120"/>
              </a:rPr>
              <a:t>WHAT WE BUILT</a:t>
            </a:r>
            <a:endParaRPr lang="en-US" sz="1725" dirty="0"/>
          </a:p>
        </p:txBody>
      </p:sp>
      <p:sp>
        <p:nvSpPr>
          <p:cNvPr id="10" name="Shape 5"/>
          <p:cNvSpPr/>
          <p:nvPr/>
        </p:nvSpPr>
        <p:spPr>
          <a:xfrm rot="2700000">
            <a:off x="1419225" y="3819525"/>
            <a:ext cx="85725" cy="85725"/>
          </a:xfrm>
          <a:prstGeom prst="rect">
            <a:avLst/>
          </a:prstGeom>
          <a:solidFill>
            <a:srgbClr val="7C1D2A"/>
          </a:solidFill>
          <a:ln/>
        </p:spPr>
      </p:sp>
      <p:sp>
        <p:nvSpPr>
          <p:cNvPr id="11" name="Text 6"/>
          <p:cNvSpPr/>
          <p:nvPr/>
        </p:nvSpPr>
        <p:spPr>
          <a:xfrm>
            <a:off x="1657350" y="3695700"/>
            <a:ext cx="7995761" cy="1279178"/>
          </a:xfrm>
          <a:prstGeom prst="rect">
            <a:avLst/>
          </a:prstGeom>
          <a:noFill/>
          <a:ln/>
        </p:spPr>
        <p:txBody>
          <a:bodyPr wrap="square" lIns="25400" tIns="25400" rIns="25400" bIns="25400" rtlCol="0" anchor="t">
            <a:normAutofit/>
          </a:bodyPr>
          <a:lstStyle/>
          <a:p>
            <a:pPr algn="l" indent="0" marL="0">
              <a:lnSpc>
                <a:spcPct val="138000"/>
              </a:lnSpc>
              <a:buNone/>
            </a:pPr>
            <a:r>
              <a:rPr lang="en-US" sz="2325" dirty="0">
                <a:solidFill>
                  <a:srgbClr val="2A1A1B"/>
                </a:solidFill>
                <a:latin typeface="Arial" pitchFamily="34" charset="0"/>
                <a:ea typeface="Arial" pitchFamily="34" charset="-122"/>
                <a:cs typeface="Arial" pitchFamily="34" charset="-120"/>
              </a:rPr>
              <a:t>Compare three models — </a:t>
            </a:r>
            <a:pPr algn="l" indent="0" marL="0">
              <a:lnSpc>
                <a:spcPct val="138000"/>
              </a:lnSpc>
              <a:buNone/>
            </a:pPr>
            <a:r>
              <a:rPr lang="en-US" sz="2325" b="1" dirty="0">
                <a:solidFill>
                  <a:srgbClr val="2A1A1B"/>
                </a:solidFill>
                <a:latin typeface="Arial" pitchFamily="34" charset="0"/>
                <a:ea typeface="Arial" pitchFamily="34" charset="-122"/>
                <a:cs typeface="Arial" pitchFamily="34" charset="-120"/>
              </a:rPr>
              <a:t>Random Forest · SVM · XGBoost </a:t>
            </a:r>
            <a:pPr algn="l" indent="0" marL="0">
              <a:lnSpc>
                <a:spcPct val="138000"/>
              </a:lnSpc>
              <a:buNone/>
            </a:pPr>
            <a:r>
              <a:rPr lang="en-US" sz="2325" dirty="0">
                <a:solidFill>
                  <a:srgbClr val="2A1A1B"/>
                </a:solidFill>
                <a:latin typeface="Arial" pitchFamily="34" charset="0"/>
                <a:ea typeface="Arial" pitchFamily="34" charset="-122"/>
                <a:cs typeface="Arial" pitchFamily="34" charset="-120"/>
              </a:rPr>
              <a:t>— to classify a patient as anaemic or not from CBC values.</a:t>
            </a:r>
            <a:endParaRPr lang="en-US" sz="2325" dirty="0"/>
          </a:p>
        </p:txBody>
      </p:sp>
      <p:sp>
        <p:nvSpPr>
          <p:cNvPr id="12" name="Shape 7"/>
          <p:cNvSpPr/>
          <p:nvPr/>
        </p:nvSpPr>
        <p:spPr>
          <a:xfrm rot="2700000">
            <a:off x="1419225" y="5289203"/>
            <a:ext cx="85725" cy="85725"/>
          </a:xfrm>
          <a:prstGeom prst="rect">
            <a:avLst/>
          </a:prstGeom>
          <a:solidFill>
            <a:srgbClr val="7C1D2A"/>
          </a:solidFill>
          <a:ln/>
        </p:spPr>
      </p:sp>
      <p:sp>
        <p:nvSpPr>
          <p:cNvPr id="13" name="Text 8"/>
          <p:cNvSpPr/>
          <p:nvPr/>
        </p:nvSpPr>
        <p:spPr>
          <a:xfrm>
            <a:off x="1657350" y="5165378"/>
            <a:ext cx="7995761" cy="862310"/>
          </a:xfrm>
          <a:prstGeom prst="rect">
            <a:avLst/>
          </a:prstGeom>
          <a:noFill/>
          <a:ln/>
        </p:spPr>
        <p:txBody>
          <a:bodyPr wrap="square" lIns="25400" tIns="25400" rIns="25400" bIns="25400" rtlCol="0" anchor="t">
            <a:normAutofit/>
          </a:bodyPr>
          <a:lstStyle/>
          <a:p>
            <a:pPr algn="l" indent="0" marL="0">
              <a:lnSpc>
                <a:spcPct val="138000"/>
              </a:lnSpc>
              <a:buNone/>
            </a:pPr>
            <a:r>
              <a:rPr lang="en-US" sz="2325" dirty="0">
                <a:solidFill>
                  <a:srgbClr val="2A1A1B"/>
                </a:solidFill>
                <a:latin typeface="Arial" pitchFamily="34" charset="0"/>
                <a:ea typeface="Arial" pitchFamily="34" charset="-122"/>
                <a:cs typeface="Arial" pitchFamily="34" charset="-120"/>
              </a:rPr>
              <a:t>Make every prediction interpretable with </a:t>
            </a:r>
            <a:pPr algn="l" indent="0" marL="0">
              <a:lnSpc>
                <a:spcPct val="138000"/>
              </a:lnSpc>
              <a:buNone/>
            </a:pPr>
            <a:r>
              <a:rPr lang="en-US" sz="2325" b="1" dirty="0">
                <a:solidFill>
                  <a:srgbClr val="2A1A1B"/>
                </a:solidFill>
                <a:latin typeface="Arial" pitchFamily="34" charset="0"/>
                <a:ea typeface="Arial" pitchFamily="34" charset="-122"/>
                <a:cs typeface="Arial" pitchFamily="34" charset="-120"/>
              </a:rPr>
              <a:t>SHAP + LIME </a:t>
            </a:r>
            <a:pPr algn="l" indent="0" marL="0">
              <a:lnSpc>
                <a:spcPct val="138000"/>
              </a:lnSpc>
              <a:buNone/>
            </a:pPr>
            <a:r>
              <a:rPr lang="en-US" sz="2325" dirty="0">
                <a:solidFill>
                  <a:srgbClr val="2A1A1B"/>
                </a:solidFill>
                <a:latin typeface="Arial" pitchFamily="34" charset="0"/>
                <a:ea typeface="Arial" pitchFamily="34" charset="-122"/>
                <a:cs typeface="Arial" pitchFamily="34" charset="-120"/>
              </a:rPr>
              <a:t>— showing which blood value drove the decision.</a:t>
            </a:r>
            <a:endParaRPr lang="en-US" sz="2325" dirty="0"/>
          </a:p>
        </p:txBody>
      </p:sp>
      <p:sp>
        <p:nvSpPr>
          <p:cNvPr id="14" name="Shape 9"/>
          <p:cNvSpPr/>
          <p:nvPr/>
        </p:nvSpPr>
        <p:spPr>
          <a:xfrm rot="2700000">
            <a:off x="1419225" y="6342013"/>
            <a:ext cx="85725" cy="85725"/>
          </a:xfrm>
          <a:prstGeom prst="rect">
            <a:avLst/>
          </a:prstGeom>
          <a:solidFill>
            <a:srgbClr val="7C1D2A"/>
          </a:solidFill>
          <a:ln/>
        </p:spPr>
      </p:sp>
      <p:sp>
        <p:nvSpPr>
          <p:cNvPr id="15" name="Text 10"/>
          <p:cNvSpPr/>
          <p:nvPr/>
        </p:nvSpPr>
        <p:spPr>
          <a:xfrm>
            <a:off x="1657350" y="6218188"/>
            <a:ext cx="7995761" cy="871835"/>
          </a:xfrm>
          <a:prstGeom prst="rect">
            <a:avLst/>
          </a:prstGeom>
          <a:noFill/>
          <a:ln/>
        </p:spPr>
        <p:txBody>
          <a:bodyPr wrap="square" lIns="25400" tIns="25400" rIns="25400" bIns="25400" rtlCol="0" anchor="t">
            <a:normAutofit/>
          </a:bodyPr>
          <a:lstStyle/>
          <a:p>
            <a:pPr algn="l" indent="0" marL="0">
              <a:lnSpc>
                <a:spcPct val="138000"/>
              </a:lnSpc>
              <a:buNone/>
            </a:pPr>
            <a:r>
              <a:rPr lang="en-US" sz="2325" dirty="0">
                <a:solidFill>
                  <a:srgbClr val="2A1A1B"/>
                </a:solidFill>
                <a:latin typeface="Arial" pitchFamily="34" charset="0"/>
                <a:ea typeface="Arial" pitchFamily="34" charset="-122"/>
                <a:cs typeface="Arial" pitchFamily="34" charset="-120"/>
              </a:rPr>
              <a:t>Evaluate on five metrics: </a:t>
            </a:r>
            <a:pPr algn="l" indent="0" marL="0">
              <a:lnSpc>
                <a:spcPct val="138000"/>
              </a:lnSpc>
              <a:buNone/>
            </a:pPr>
            <a:r>
              <a:rPr lang="en-US" sz="2325" b="1" dirty="0">
                <a:solidFill>
                  <a:srgbClr val="2A1A1B"/>
                </a:solidFill>
                <a:latin typeface="Arial" pitchFamily="34" charset="0"/>
                <a:ea typeface="Arial" pitchFamily="34" charset="-122"/>
                <a:cs typeface="Arial" pitchFamily="34" charset="-120"/>
              </a:rPr>
              <a:t>accuracy, precision, recall, F1, AUC-ROC </a:t>
            </a:r>
            <a:pPr algn="l" indent="0" marL="0">
              <a:lnSpc>
                <a:spcPct val="138000"/>
              </a:lnSpc>
              <a:buNone/>
            </a:pPr>
            <a:r>
              <a:rPr lang="en-US" sz="2325" dirty="0">
                <a:solidFill>
                  <a:srgbClr val="2A1A1B"/>
                </a:solidFill>
                <a:latin typeface="Arial" pitchFamily="34" charset="0"/>
                <a:ea typeface="Arial" pitchFamily="34" charset="-122"/>
                <a:cs typeface="Arial" pitchFamily="34" charset="-120"/>
              </a:rPr>
              <a:t>.</a:t>
            </a:r>
            <a:endParaRPr lang="en-US" sz="2325" dirty="0"/>
          </a:p>
        </p:txBody>
      </p:sp>
      <p:sp>
        <p:nvSpPr>
          <p:cNvPr id="16" name="Shape 11"/>
          <p:cNvSpPr/>
          <p:nvPr/>
        </p:nvSpPr>
        <p:spPr>
          <a:xfrm>
            <a:off x="10115550" y="2809875"/>
            <a:ext cx="7124700" cy="5391150"/>
          </a:xfrm>
          <a:prstGeom prst="roundRect">
            <a:avLst>
              <a:gd name="adj" fmla="val 3180"/>
            </a:avLst>
          </a:prstGeom>
          <a:solidFill>
            <a:srgbClr val="7C1D2A"/>
          </a:solidFill>
          <a:ln/>
        </p:spPr>
      </p:sp>
      <p:sp>
        <p:nvSpPr>
          <p:cNvPr id="17" name="Text 12"/>
          <p:cNvSpPr/>
          <p:nvPr/>
        </p:nvSpPr>
        <p:spPr>
          <a:xfrm>
            <a:off x="10477500" y="3152775"/>
            <a:ext cx="7040880"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E6B7B0"/>
                </a:solidFill>
                <a:latin typeface="Courier New" pitchFamily="34" charset="0"/>
                <a:ea typeface="Courier New" pitchFamily="34" charset="-122"/>
                <a:cs typeface="Courier New" pitchFamily="34" charset="-120"/>
              </a:rPr>
              <a:t>THE HONEST FINDING</a:t>
            </a:r>
            <a:endParaRPr lang="en-US" sz="1725" dirty="0"/>
          </a:p>
        </p:txBody>
      </p:sp>
      <p:sp>
        <p:nvSpPr>
          <p:cNvPr id="18" name="Text 13"/>
          <p:cNvSpPr/>
          <p:nvPr/>
        </p:nvSpPr>
        <p:spPr>
          <a:xfrm>
            <a:off x="10477500" y="3667125"/>
            <a:ext cx="6592824" cy="1324421"/>
          </a:xfrm>
          <a:prstGeom prst="rect">
            <a:avLst/>
          </a:prstGeom>
          <a:noFill/>
          <a:ln/>
        </p:spPr>
        <p:txBody>
          <a:bodyPr wrap="square" lIns="25400" tIns="25400" rIns="25400" bIns="25400" rtlCol="0" anchor="t">
            <a:normAutofit/>
          </a:bodyPr>
          <a:lstStyle/>
          <a:p>
            <a:pPr algn="l" indent="0" marL="0">
              <a:lnSpc>
                <a:spcPct val="142000"/>
              </a:lnSpc>
              <a:buNone/>
            </a:pPr>
            <a:r>
              <a:rPr lang="en-US" sz="2325" dirty="0">
                <a:solidFill>
                  <a:srgbClr val="F7F1E9"/>
                </a:solidFill>
                <a:latin typeface="Arial" pitchFamily="34" charset="0"/>
                <a:ea typeface="Arial" pitchFamily="34" charset="-122"/>
                <a:cs typeface="Arial" pitchFamily="34" charset="-120"/>
              </a:rPr>
              <a:t>The label is defined from a </a:t>
            </a:r>
            <a:pPr algn="l" indent="0" marL="0">
              <a:lnSpc>
                <a:spcPct val="142000"/>
              </a:lnSpc>
              <a:buNone/>
            </a:pPr>
            <a:r>
              <a:rPr lang="en-US" sz="2325" b="1" dirty="0">
                <a:solidFill>
                  <a:srgbClr val="F6D9D4"/>
                </a:solidFill>
                <a:latin typeface="Arial" pitchFamily="34" charset="0"/>
                <a:ea typeface="Arial" pitchFamily="34" charset="-122"/>
                <a:cs typeface="Arial" pitchFamily="34" charset="-120"/>
              </a:rPr>
              <a:t>haemoglobin threshold </a:t>
            </a:r>
            <a:pPr algn="l" indent="0" marL="0">
              <a:lnSpc>
                <a:spcPct val="142000"/>
              </a:lnSpc>
              <a:buNone/>
            </a:pPr>
            <a:r>
              <a:rPr lang="en-US" sz="2325" dirty="0">
                <a:solidFill>
                  <a:srgbClr val="F7F1E9"/>
                </a:solidFill>
                <a:latin typeface="Arial" pitchFamily="34" charset="0"/>
                <a:ea typeface="Arial" pitchFamily="34" charset="-122"/>
                <a:cs typeface="Arial" pitchFamily="34" charset="-120"/>
              </a:rPr>
              <a:t>, so models hit near-100% by re-learning that rule — </a:t>
            </a:r>
            <a:pPr algn="l" indent="0" marL="0">
              <a:lnSpc>
                <a:spcPct val="142000"/>
              </a:lnSpc>
              <a:buNone/>
            </a:pPr>
            <a:r>
              <a:rPr lang="en-US" sz="2325" b="1" dirty="0">
                <a:solidFill>
                  <a:srgbClr val="F6D9D4"/>
                </a:solidFill>
                <a:latin typeface="Arial" pitchFamily="34" charset="0"/>
                <a:ea typeface="Arial" pitchFamily="34" charset="-122"/>
                <a:cs typeface="Arial" pitchFamily="34" charset="-120"/>
              </a:rPr>
              <a:t>label leakage</a:t>
            </a:r>
            <a:pPr algn="l" indent="0" marL="0">
              <a:lnSpc>
                <a:spcPct val="142000"/>
              </a:lnSpc>
              <a:buNone/>
            </a:pPr>
            <a:r>
              <a:rPr lang="en-US" sz="2325" dirty="0">
                <a:solidFill>
                  <a:srgbClr val="F7F1E9"/>
                </a:solidFill>
                <a:latin typeface="Arial" pitchFamily="34" charset="0"/>
                <a:ea typeface="Arial" pitchFamily="34" charset="-122"/>
                <a:cs typeface="Arial" pitchFamily="34" charset="-120"/>
              </a:rPr>
              <a:t>.</a:t>
            </a:r>
            <a:endParaRPr lang="en-US" sz="2325" dirty="0"/>
          </a:p>
        </p:txBody>
      </p:sp>
      <p:sp>
        <p:nvSpPr>
          <p:cNvPr id="19" name="Text 14"/>
          <p:cNvSpPr/>
          <p:nvPr/>
        </p:nvSpPr>
        <p:spPr>
          <a:xfrm>
            <a:off x="10477500" y="5162996"/>
            <a:ext cx="6592824" cy="876598"/>
          </a:xfrm>
          <a:prstGeom prst="rect">
            <a:avLst/>
          </a:prstGeom>
          <a:noFill/>
          <a:ln/>
        </p:spPr>
        <p:txBody>
          <a:bodyPr wrap="square" lIns="25400" tIns="25400" rIns="25400" bIns="25400" rtlCol="0" anchor="t">
            <a:normAutofit/>
          </a:bodyPr>
          <a:lstStyle/>
          <a:p>
            <a:pPr algn="l" indent="0" marL="0">
              <a:lnSpc>
                <a:spcPct val="142000"/>
              </a:lnSpc>
              <a:buNone/>
            </a:pPr>
            <a:r>
              <a:rPr lang="en-US" sz="2325" dirty="0">
                <a:solidFill>
                  <a:srgbClr val="F7F1E9"/>
                </a:solidFill>
                <a:latin typeface="Arial" pitchFamily="34" charset="0"/>
                <a:ea typeface="Arial" pitchFamily="34" charset="-122"/>
                <a:cs typeface="Arial" pitchFamily="34" charset="-120"/>
              </a:rPr>
              <a:t>We disclose it openly and prove it with a haemoglobin-excluded experiment.</a:t>
            </a:r>
            <a:endParaRPr lang="en-US" sz="2325" dirty="0"/>
          </a:p>
        </p:txBody>
      </p:sp>
      <p:sp>
        <p:nvSpPr>
          <p:cNvPr id="20" name="Shape 15"/>
          <p:cNvSpPr/>
          <p:nvPr/>
        </p:nvSpPr>
        <p:spPr>
          <a:xfrm>
            <a:off x="1047750" y="8601075"/>
            <a:ext cx="16192500" cy="923925"/>
          </a:xfrm>
          <a:prstGeom prst="roundRect">
            <a:avLst>
              <a:gd name="adj" fmla="val 16495"/>
            </a:avLst>
          </a:prstGeom>
          <a:solidFill>
            <a:srgbClr val="EFDCD8"/>
          </a:solidFill>
          <a:ln w="9525">
            <a:solidFill>
              <a:srgbClr val="E3C9C4"/>
            </a:solidFill>
            <a:prstDash val="solid"/>
          </a:ln>
        </p:spPr>
      </p:sp>
      <p:sp>
        <p:nvSpPr>
          <p:cNvPr id="21" name="Text 16"/>
          <p:cNvSpPr/>
          <p:nvPr/>
        </p:nvSpPr>
        <p:spPr>
          <a:xfrm>
            <a:off x="1400175" y="8858250"/>
            <a:ext cx="15973425" cy="447675"/>
          </a:xfrm>
          <a:prstGeom prst="rect">
            <a:avLst/>
          </a:prstGeom>
          <a:noFill/>
          <a:ln/>
        </p:spPr>
        <p:txBody>
          <a:bodyPr wrap="square" lIns="25400" tIns="25400" rIns="25400" bIns="25400" rtlCol="0" anchor="t">
            <a:normAutofit/>
          </a:bodyPr>
          <a:lstStyle/>
          <a:p>
            <a:pPr algn="l" indent="0" marL="0">
              <a:lnSpc>
                <a:spcPct val="140000"/>
              </a:lnSpc>
              <a:buNone/>
            </a:pPr>
            <a:r>
              <a:rPr lang="en-US" sz="2250" b="1" dirty="0">
                <a:solidFill>
                  <a:srgbClr val="7C1D2A"/>
                </a:solidFill>
                <a:latin typeface="Arial" pitchFamily="34" charset="0"/>
                <a:ea typeface="Arial" pitchFamily="34" charset="-122"/>
                <a:cs typeface="Arial" pitchFamily="34" charset="-120"/>
              </a:rPr>
              <a:t>Contribution </a:t>
            </a:r>
            <a:pPr algn="l" indent="0" marL="0">
              <a:lnSpc>
                <a:spcPct val="140000"/>
              </a:lnSpc>
              <a:buNone/>
            </a:pPr>
            <a:r>
              <a:rPr lang="en-US" sz="2250" dirty="0">
                <a:solidFill>
                  <a:srgbClr val="2A1A1B"/>
                </a:solidFill>
                <a:highlight>
                  <a:srgbClr val="EFDCD8"/>
                </a:highlight>
                <a:latin typeface="Arial" pitchFamily="34" charset="0"/>
                <a:ea typeface="Arial" pitchFamily="34" charset="-122"/>
                <a:cs typeface="Arial" pitchFamily="34" charset="-120"/>
              </a:rPr>
              <a:t>— a transparent comparison-plus-explainability pipeline, not the raw accuracy number.</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04938"/>
            <a:ext cx="209550" cy="209550"/>
          </a:xfrm>
          <a:prstGeom prst="rect">
            <a:avLst/>
          </a:prstGeom>
        </p:spPr>
      </p:pic>
      <p:sp>
        <p:nvSpPr>
          <p:cNvPr id="3" name="Text 0"/>
          <p:cNvSpPr/>
          <p:nvPr/>
        </p:nvSpPr>
        <p:spPr>
          <a:xfrm>
            <a:off x="1371600" y="135255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3144500" y="5334000"/>
            <a:ext cx="5334000" cy="5334000"/>
          </a:xfrm>
          <a:prstGeom prst="rect">
            <a:avLst/>
          </a:prstGeom>
        </p:spPr>
      </p:pic>
      <p:sp>
        <p:nvSpPr>
          <p:cNvPr id="5" name="Text 1"/>
          <p:cNvSpPr/>
          <p:nvPr/>
        </p:nvSpPr>
        <p:spPr>
          <a:xfrm>
            <a:off x="1047750" y="1838325"/>
            <a:ext cx="9683175"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Objective &amp; Problem Statement</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03</a:t>
            </a:r>
            <a:endParaRPr lang="en-US" sz="3600" dirty="0"/>
          </a:p>
        </p:txBody>
      </p:sp>
      <p:sp>
        <p:nvSpPr>
          <p:cNvPr id="8" name="Shape 3"/>
          <p:cNvSpPr/>
          <p:nvPr/>
        </p:nvSpPr>
        <p:spPr>
          <a:xfrm>
            <a:off x="1047750" y="2771775"/>
            <a:ext cx="16192500" cy="1769566"/>
          </a:xfrm>
          <a:prstGeom prst="roundRect">
            <a:avLst>
              <a:gd name="adj" fmla="val 8612"/>
            </a:avLst>
          </a:prstGeom>
          <a:solidFill>
            <a:srgbClr val="7C1D2A"/>
          </a:solidFill>
          <a:ln/>
        </p:spPr>
      </p:sp>
      <p:sp>
        <p:nvSpPr>
          <p:cNvPr id="9" name="Text 4"/>
          <p:cNvSpPr/>
          <p:nvPr/>
        </p:nvSpPr>
        <p:spPr>
          <a:xfrm>
            <a:off x="1390650" y="3038475"/>
            <a:ext cx="17057370" cy="344686"/>
          </a:xfrm>
          <a:prstGeom prst="rect">
            <a:avLst/>
          </a:prstGeom>
          <a:noFill/>
          <a:ln/>
        </p:spPr>
        <p:txBody>
          <a:bodyPr wrap="square" lIns="25400" tIns="25400" rIns="25400" bIns="25400" rtlCol="0" anchor="t">
            <a:normAutofit/>
          </a:bodyPr>
          <a:lstStyle/>
          <a:p>
            <a:pPr algn="l" indent="0" marL="0">
              <a:lnSpc>
                <a:spcPct val="140000"/>
              </a:lnSpc>
              <a:buNone/>
            </a:pPr>
            <a:r>
              <a:rPr lang="en-US" sz="1725" spc="138" kern="0" dirty="0">
                <a:solidFill>
                  <a:srgbClr val="E6B7B0"/>
                </a:solidFill>
                <a:latin typeface="Courier New" pitchFamily="34" charset="0"/>
                <a:ea typeface="Courier New" pitchFamily="34" charset="-122"/>
                <a:cs typeface="Courier New" pitchFamily="34" charset="-120"/>
              </a:rPr>
              <a:t>PROBLEM</a:t>
            </a:r>
            <a:endParaRPr lang="en-US" sz="1725" dirty="0"/>
          </a:p>
        </p:txBody>
      </p:sp>
      <p:sp>
        <p:nvSpPr>
          <p:cNvPr id="10" name="Text 5"/>
          <p:cNvSpPr/>
          <p:nvPr/>
        </p:nvSpPr>
        <p:spPr>
          <a:xfrm>
            <a:off x="1390650" y="3430786"/>
            <a:ext cx="15752845" cy="864840"/>
          </a:xfrm>
          <a:prstGeom prst="rect">
            <a:avLst/>
          </a:prstGeom>
          <a:noFill/>
          <a:ln/>
        </p:spPr>
        <p:txBody>
          <a:bodyPr wrap="square" lIns="0" tIns="0" rIns="0" bIns="0" rtlCol="0" anchor="t">
            <a:normAutofit/>
          </a:bodyPr>
          <a:lstStyle/>
          <a:p>
            <a:pPr algn="l" indent="0" marL="0">
              <a:lnSpc>
                <a:spcPct val="140000"/>
              </a:lnSpc>
              <a:buNone/>
            </a:pPr>
            <a:r>
              <a:rPr lang="en-US" sz="2400" dirty="0">
                <a:solidFill>
                  <a:srgbClr val="F7F1E9"/>
                </a:solidFill>
                <a:latin typeface="Arial" pitchFamily="34" charset="0"/>
                <a:ea typeface="Arial" pitchFamily="34" charset="-122"/>
                <a:cs typeface="Arial" pitchFamily="34" charset="-120"/>
              </a:rPr>
              <a:t>Anaemia diagnosis is slow and error-prone in resource-constrained settings — and black-box AI is not trusted by clinicians.</a:t>
            </a:r>
            <a:endParaRPr lang="en-US" sz="2400" dirty="0"/>
          </a:p>
        </p:txBody>
      </p:sp>
      <p:sp>
        <p:nvSpPr>
          <p:cNvPr id="11" name="Shape 6"/>
          <p:cNvSpPr/>
          <p:nvPr/>
        </p:nvSpPr>
        <p:spPr>
          <a:xfrm>
            <a:off x="1047750" y="4903291"/>
            <a:ext cx="7981950" cy="1606451"/>
          </a:xfrm>
          <a:prstGeom prst="roundRect">
            <a:avLst>
              <a:gd name="adj" fmla="val 9487"/>
            </a:avLst>
          </a:prstGeom>
          <a:solidFill>
            <a:srgbClr val="EDE4D6"/>
          </a:solidFill>
          <a:ln w="9525">
            <a:solidFill>
              <a:srgbClr val="E2D7C7"/>
            </a:solidFill>
            <a:prstDash val="solid"/>
          </a:ln>
        </p:spPr>
      </p:sp>
      <p:sp>
        <p:nvSpPr>
          <p:cNvPr id="12" name="Text 7"/>
          <p:cNvSpPr/>
          <p:nvPr/>
        </p:nvSpPr>
        <p:spPr>
          <a:xfrm>
            <a:off x="1343025" y="5160466"/>
            <a:ext cx="464939"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A8323E"/>
                </a:solidFill>
                <a:latin typeface="Courier New" pitchFamily="34" charset="0"/>
                <a:ea typeface="Courier New" pitchFamily="34" charset="-122"/>
                <a:cs typeface="Courier New" pitchFamily="34" charset="-120"/>
              </a:rPr>
              <a:t>O1</a:t>
            </a:r>
            <a:endParaRPr lang="en-US" sz="2550" dirty="0"/>
          </a:p>
        </p:txBody>
      </p:sp>
      <p:sp>
        <p:nvSpPr>
          <p:cNvPr id="13" name="Text 8"/>
          <p:cNvSpPr/>
          <p:nvPr/>
        </p:nvSpPr>
        <p:spPr>
          <a:xfrm>
            <a:off x="1922264" y="5160466"/>
            <a:ext cx="7016526" cy="803672"/>
          </a:xfrm>
          <a:prstGeom prst="rect">
            <a:avLst/>
          </a:prstGeom>
          <a:noFill/>
          <a:ln/>
        </p:spPr>
        <p:txBody>
          <a:bodyPr wrap="square" lIns="25400" tIns="25400" rIns="25400" bIns="25400" rtlCol="0" anchor="t">
            <a:normAutofit/>
          </a:bodyPr>
          <a:lstStyle/>
          <a:p>
            <a:pPr algn="l" indent="0" marL="0">
              <a:lnSpc>
                <a:spcPct val="134000"/>
              </a:lnSpc>
              <a:buNone/>
            </a:pPr>
            <a:r>
              <a:rPr lang="en-US" sz="2250" dirty="0">
                <a:solidFill>
                  <a:srgbClr val="2A1A1B"/>
                </a:solidFill>
                <a:latin typeface="Arial" pitchFamily="34" charset="0"/>
                <a:ea typeface="Arial" pitchFamily="34" charset="-122"/>
                <a:cs typeface="Arial" pitchFamily="34" charset="-120"/>
              </a:rPr>
              <a:t>Train and compare RF, SVM and XGBoost on CBC data — and pick the best.</a:t>
            </a:r>
            <a:endParaRPr lang="en-US" sz="2250" dirty="0"/>
          </a:p>
        </p:txBody>
      </p:sp>
      <p:sp>
        <p:nvSpPr>
          <p:cNvPr id="14" name="Shape 9"/>
          <p:cNvSpPr/>
          <p:nvPr/>
        </p:nvSpPr>
        <p:spPr>
          <a:xfrm>
            <a:off x="9258300" y="4903291"/>
            <a:ext cx="7981950" cy="1606451"/>
          </a:xfrm>
          <a:prstGeom prst="roundRect">
            <a:avLst>
              <a:gd name="adj" fmla="val 9487"/>
            </a:avLst>
          </a:prstGeom>
          <a:solidFill>
            <a:srgbClr val="EDE4D6"/>
          </a:solidFill>
          <a:ln w="9525">
            <a:solidFill>
              <a:srgbClr val="E2D7C7"/>
            </a:solidFill>
            <a:prstDash val="solid"/>
          </a:ln>
        </p:spPr>
      </p:sp>
      <p:sp>
        <p:nvSpPr>
          <p:cNvPr id="15" name="Text 10"/>
          <p:cNvSpPr/>
          <p:nvPr/>
        </p:nvSpPr>
        <p:spPr>
          <a:xfrm>
            <a:off x="9553575" y="5160466"/>
            <a:ext cx="464939"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A8323E"/>
                </a:solidFill>
                <a:latin typeface="Courier New" pitchFamily="34" charset="0"/>
                <a:ea typeface="Courier New" pitchFamily="34" charset="-122"/>
                <a:cs typeface="Courier New" pitchFamily="34" charset="-120"/>
              </a:rPr>
              <a:t>O2</a:t>
            </a:r>
            <a:endParaRPr lang="en-US" sz="2550" dirty="0"/>
          </a:p>
        </p:txBody>
      </p:sp>
      <p:sp>
        <p:nvSpPr>
          <p:cNvPr id="16" name="Text 11"/>
          <p:cNvSpPr/>
          <p:nvPr/>
        </p:nvSpPr>
        <p:spPr>
          <a:xfrm>
            <a:off x="10132814" y="5160466"/>
            <a:ext cx="7016526" cy="803672"/>
          </a:xfrm>
          <a:prstGeom prst="rect">
            <a:avLst/>
          </a:prstGeom>
          <a:noFill/>
          <a:ln/>
        </p:spPr>
        <p:txBody>
          <a:bodyPr wrap="square" lIns="25400" tIns="25400" rIns="25400" bIns="25400" rtlCol="0" anchor="t">
            <a:normAutofit/>
          </a:bodyPr>
          <a:lstStyle/>
          <a:p>
            <a:pPr algn="l" indent="0" marL="0">
              <a:lnSpc>
                <a:spcPct val="134000"/>
              </a:lnSpc>
              <a:buNone/>
            </a:pPr>
            <a:r>
              <a:rPr lang="en-US" sz="2250" dirty="0">
                <a:solidFill>
                  <a:srgbClr val="2A1A1B"/>
                </a:solidFill>
                <a:latin typeface="Arial" pitchFamily="34" charset="0"/>
                <a:ea typeface="Arial" pitchFamily="34" charset="-122"/>
                <a:cs typeface="Arial" pitchFamily="34" charset="-120"/>
              </a:rPr>
              <a:t>Integrate SHAP + LIME for per-prediction explanations.</a:t>
            </a:r>
            <a:endParaRPr lang="en-US" sz="2250" dirty="0"/>
          </a:p>
        </p:txBody>
      </p:sp>
      <p:sp>
        <p:nvSpPr>
          <p:cNvPr id="17" name="Shape 12"/>
          <p:cNvSpPr/>
          <p:nvPr/>
        </p:nvSpPr>
        <p:spPr>
          <a:xfrm>
            <a:off x="1047750" y="6738342"/>
            <a:ext cx="7981950" cy="1279029"/>
          </a:xfrm>
          <a:prstGeom prst="roundRect">
            <a:avLst>
              <a:gd name="adj" fmla="val 11915"/>
            </a:avLst>
          </a:prstGeom>
          <a:solidFill>
            <a:srgbClr val="EDE4D6"/>
          </a:solidFill>
          <a:ln w="9525">
            <a:solidFill>
              <a:srgbClr val="E2D7C7"/>
            </a:solidFill>
            <a:prstDash val="solid"/>
          </a:ln>
        </p:spPr>
      </p:sp>
      <p:sp>
        <p:nvSpPr>
          <p:cNvPr id="18" name="Text 13"/>
          <p:cNvSpPr/>
          <p:nvPr/>
        </p:nvSpPr>
        <p:spPr>
          <a:xfrm>
            <a:off x="1343025" y="6995517"/>
            <a:ext cx="464939"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A8323E"/>
                </a:solidFill>
                <a:latin typeface="Courier New" pitchFamily="34" charset="0"/>
                <a:ea typeface="Courier New" pitchFamily="34" charset="-122"/>
                <a:cs typeface="Courier New" pitchFamily="34" charset="-120"/>
              </a:rPr>
              <a:t>O3</a:t>
            </a:r>
            <a:endParaRPr lang="en-US" sz="2550" dirty="0"/>
          </a:p>
        </p:txBody>
      </p:sp>
      <p:sp>
        <p:nvSpPr>
          <p:cNvPr id="19" name="Text 14"/>
          <p:cNvSpPr/>
          <p:nvPr/>
        </p:nvSpPr>
        <p:spPr>
          <a:xfrm>
            <a:off x="1922264" y="6995517"/>
            <a:ext cx="6014740" cy="420886"/>
          </a:xfrm>
          <a:prstGeom prst="rect">
            <a:avLst/>
          </a:prstGeom>
          <a:noFill/>
          <a:ln/>
        </p:spPr>
        <p:txBody>
          <a:bodyPr wrap="square" lIns="25400" tIns="25400" rIns="25400" bIns="25400" rtlCol="0" anchor="t">
            <a:normAutofit/>
          </a:bodyPr>
          <a:lstStyle/>
          <a:p>
            <a:pPr algn="l" indent="0" marL="0">
              <a:lnSpc>
                <a:spcPct val="134000"/>
              </a:lnSpc>
              <a:buNone/>
            </a:pPr>
            <a:r>
              <a:rPr lang="en-US" sz="2250" dirty="0">
                <a:solidFill>
                  <a:srgbClr val="2A1A1B"/>
                </a:solidFill>
                <a:latin typeface="Arial" pitchFamily="34" charset="0"/>
                <a:ea typeface="Arial" pitchFamily="34" charset="-122"/>
                <a:cs typeface="Arial" pitchFamily="34" charset="-120"/>
              </a:rPr>
              <a:t>Identify the most influential blood features.</a:t>
            </a:r>
            <a:endParaRPr lang="en-US" sz="2250" dirty="0"/>
          </a:p>
        </p:txBody>
      </p:sp>
      <p:sp>
        <p:nvSpPr>
          <p:cNvPr id="20" name="Shape 15"/>
          <p:cNvSpPr/>
          <p:nvPr/>
        </p:nvSpPr>
        <p:spPr>
          <a:xfrm>
            <a:off x="9258300" y="6738342"/>
            <a:ext cx="7981950" cy="1279029"/>
          </a:xfrm>
          <a:prstGeom prst="roundRect">
            <a:avLst>
              <a:gd name="adj" fmla="val 11915"/>
            </a:avLst>
          </a:prstGeom>
          <a:solidFill>
            <a:srgbClr val="EDE4D6"/>
          </a:solidFill>
          <a:ln w="9525">
            <a:solidFill>
              <a:srgbClr val="E2D7C7"/>
            </a:solidFill>
            <a:prstDash val="solid"/>
          </a:ln>
        </p:spPr>
      </p:sp>
      <p:sp>
        <p:nvSpPr>
          <p:cNvPr id="21" name="Text 16"/>
          <p:cNvSpPr/>
          <p:nvPr/>
        </p:nvSpPr>
        <p:spPr>
          <a:xfrm>
            <a:off x="9553575" y="6995517"/>
            <a:ext cx="464939"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A8323E"/>
                </a:solidFill>
                <a:latin typeface="Courier New" pitchFamily="34" charset="0"/>
                <a:ea typeface="Courier New" pitchFamily="34" charset="-122"/>
                <a:cs typeface="Courier New" pitchFamily="34" charset="-120"/>
              </a:rPr>
              <a:t>O4</a:t>
            </a:r>
            <a:endParaRPr lang="en-US" sz="2550" dirty="0"/>
          </a:p>
        </p:txBody>
      </p:sp>
      <p:sp>
        <p:nvSpPr>
          <p:cNvPr id="22" name="Text 17"/>
          <p:cNvSpPr/>
          <p:nvPr/>
        </p:nvSpPr>
        <p:spPr>
          <a:xfrm>
            <a:off x="10132814" y="6995517"/>
            <a:ext cx="6950675" cy="420886"/>
          </a:xfrm>
          <a:prstGeom prst="rect">
            <a:avLst/>
          </a:prstGeom>
          <a:noFill/>
          <a:ln/>
        </p:spPr>
        <p:txBody>
          <a:bodyPr wrap="square" lIns="25400" tIns="25400" rIns="25400" bIns="25400" rtlCol="0" anchor="t">
            <a:normAutofit/>
          </a:bodyPr>
          <a:lstStyle/>
          <a:p>
            <a:pPr algn="l" indent="0" marL="0">
              <a:lnSpc>
                <a:spcPct val="134000"/>
              </a:lnSpc>
              <a:buNone/>
            </a:pPr>
            <a:r>
              <a:rPr lang="en-US" sz="2250" dirty="0">
                <a:solidFill>
                  <a:srgbClr val="2A1A1B"/>
                </a:solidFill>
                <a:latin typeface="Arial" pitchFamily="34" charset="0"/>
                <a:ea typeface="Arial" pitchFamily="34" charset="-122"/>
                <a:cs typeface="Arial" pitchFamily="34" charset="-120"/>
              </a:rPr>
              <a:t>Build a web UI: input → prediction → explanation.</a:t>
            </a:r>
            <a:endParaRPr lang="en-US" sz="2250" dirty="0"/>
          </a:p>
        </p:txBody>
      </p:sp>
      <p:sp>
        <p:nvSpPr>
          <p:cNvPr id="23" name="Shape 18"/>
          <p:cNvSpPr/>
          <p:nvPr/>
        </p:nvSpPr>
        <p:spPr>
          <a:xfrm>
            <a:off x="1047750" y="8245971"/>
            <a:ext cx="16192500" cy="1279029"/>
          </a:xfrm>
          <a:prstGeom prst="roundRect">
            <a:avLst>
              <a:gd name="adj" fmla="val 11915"/>
            </a:avLst>
          </a:prstGeom>
          <a:solidFill>
            <a:srgbClr val="EDE4D6"/>
          </a:solidFill>
          <a:ln w="9525">
            <a:solidFill>
              <a:srgbClr val="E2D7C7"/>
            </a:solidFill>
            <a:prstDash val="solid"/>
          </a:ln>
        </p:spPr>
      </p:sp>
      <p:sp>
        <p:nvSpPr>
          <p:cNvPr id="24" name="Text 19"/>
          <p:cNvSpPr/>
          <p:nvPr/>
        </p:nvSpPr>
        <p:spPr>
          <a:xfrm>
            <a:off x="1343025" y="8503146"/>
            <a:ext cx="464939" cy="476250"/>
          </a:xfrm>
          <a:prstGeom prst="rect">
            <a:avLst/>
          </a:prstGeom>
          <a:noFill/>
          <a:ln/>
        </p:spPr>
        <p:txBody>
          <a:bodyPr wrap="square" lIns="25400" tIns="25400" rIns="25400" bIns="25400" rtlCol="0" anchor="t">
            <a:normAutofit/>
          </a:bodyPr>
          <a:lstStyle/>
          <a:p>
            <a:pPr algn="l" indent="0" marL="0">
              <a:buNone/>
            </a:pPr>
            <a:r>
              <a:rPr lang="en-US" sz="2550" b="1" dirty="0">
                <a:solidFill>
                  <a:srgbClr val="A8323E"/>
                </a:solidFill>
                <a:latin typeface="Courier New" pitchFamily="34" charset="0"/>
                <a:ea typeface="Courier New" pitchFamily="34" charset="-122"/>
                <a:cs typeface="Courier New" pitchFamily="34" charset="-120"/>
              </a:rPr>
              <a:t>O5</a:t>
            </a:r>
            <a:endParaRPr lang="en-US" sz="2550" dirty="0"/>
          </a:p>
        </p:txBody>
      </p:sp>
      <p:sp>
        <p:nvSpPr>
          <p:cNvPr id="25" name="Text 20"/>
          <p:cNvSpPr/>
          <p:nvPr/>
        </p:nvSpPr>
        <p:spPr>
          <a:xfrm>
            <a:off x="1922264" y="8503146"/>
            <a:ext cx="8820582" cy="420886"/>
          </a:xfrm>
          <a:prstGeom prst="rect">
            <a:avLst/>
          </a:prstGeom>
          <a:noFill/>
          <a:ln/>
        </p:spPr>
        <p:txBody>
          <a:bodyPr wrap="square" lIns="25400" tIns="25400" rIns="25400" bIns="25400" rtlCol="0" anchor="t">
            <a:normAutofit/>
          </a:bodyPr>
          <a:lstStyle/>
          <a:p>
            <a:pPr algn="l" indent="0" marL="0">
              <a:lnSpc>
                <a:spcPct val="134000"/>
              </a:lnSpc>
              <a:buNone/>
            </a:pPr>
            <a:r>
              <a:rPr lang="en-US" sz="2250" dirty="0">
                <a:solidFill>
                  <a:srgbClr val="2A1A1B"/>
                </a:solidFill>
                <a:latin typeface="Arial" pitchFamily="34" charset="0"/>
                <a:ea typeface="Arial" pitchFamily="34" charset="-122"/>
                <a:cs typeface="Arial" pitchFamily="34" charset="-120"/>
              </a:rPr>
              <a:t>Support early, interpretable screening in low-resource settings.</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04938"/>
            <a:ext cx="209550" cy="209550"/>
          </a:xfrm>
          <a:prstGeom prst="rect">
            <a:avLst/>
          </a:prstGeom>
        </p:spPr>
      </p:pic>
      <p:sp>
        <p:nvSpPr>
          <p:cNvPr id="3" name="Text 0"/>
          <p:cNvSpPr/>
          <p:nvPr/>
        </p:nvSpPr>
        <p:spPr>
          <a:xfrm>
            <a:off x="1371600" y="135255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8000"/>
            <a:extLst>
              <a:ext uri="{96DAC541-7B7A-43D3-8B79-37D633B846F1}">
                <asvg:svgBlip xmlns:asvg="http://schemas.microsoft.com/office/drawing/2016/SVG/main" r:embed="rId4"/>
              </a:ext>
            </a:extLst>
          </a:blip>
          <a:stretch>
            <a:fillRect/>
          </a:stretch>
        </p:blipFill>
        <p:spPr>
          <a:xfrm>
            <a:off x="12287250" y="5495925"/>
            <a:ext cx="6286500" cy="5076825"/>
          </a:xfrm>
          <a:prstGeom prst="rect">
            <a:avLst/>
          </a:prstGeom>
        </p:spPr>
      </p:pic>
      <p:sp>
        <p:nvSpPr>
          <p:cNvPr id="5" name="Text 1"/>
          <p:cNvSpPr/>
          <p:nvPr/>
        </p:nvSpPr>
        <p:spPr>
          <a:xfrm>
            <a:off x="1047750" y="1838325"/>
            <a:ext cx="4834384"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Existing System</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04</a:t>
            </a:r>
            <a:endParaRPr lang="en-US" sz="3600" dirty="0"/>
          </a:p>
        </p:txBody>
      </p:sp>
      <p:sp>
        <p:nvSpPr>
          <p:cNvPr id="8" name="Shape 3"/>
          <p:cNvSpPr/>
          <p:nvPr/>
        </p:nvSpPr>
        <p:spPr>
          <a:xfrm>
            <a:off x="1047750" y="2771775"/>
            <a:ext cx="7934325" cy="6753225"/>
          </a:xfrm>
          <a:prstGeom prst="roundRect">
            <a:avLst>
              <a:gd name="adj" fmla="val 2539"/>
            </a:avLst>
          </a:prstGeom>
          <a:solidFill>
            <a:srgbClr val="EDE4D6"/>
          </a:solidFill>
          <a:ln w="9525">
            <a:solidFill>
              <a:srgbClr val="E2D7C7"/>
            </a:solidFill>
            <a:prstDash val="solid"/>
          </a:ln>
        </p:spPr>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00175" y="3105150"/>
            <a:ext cx="533400" cy="533400"/>
          </a:xfrm>
          <a:prstGeom prst="rect">
            <a:avLst/>
          </a:prstGeom>
        </p:spPr>
      </p:pic>
      <p:sp>
        <p:nvSpPr>
          <p:cNvPr id="10" name="Text 4"/>
          <p:cNvSpPr/>
          <p:nvPr/>
        </p:nvSpPr>
        <p:spPr>
          <a:xfrm>
            <a:off x="2105025" y="3219450"/>
            <a:ext cx="3113618"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7C1D2A"/>
                </a:solidFill>
                <a:latin typeface="Courier New" pitchFamily="34" charset="0"/>
                <a:ea typeface="Courier New" pitchFamily="34" charset="-122"/>
                <a:cs typeface="Courier New" pitchFamily="34" charset="-120"/>
              </a:rPr>
              <a:t>HOW IT'S DONE TODAY</a:t>
            </a:r>
            <a:endParaRPr lang="en-US" sz="1725" dirty="0"/>
          </a:p>
        </p:txBody>
      </p:sp>
      <p:sp>
        <p:nvSpPr>
          <p:cNvPr id="11" name="Shape 5"/>
          <p:cNvSpPr/>
          <p:nvPr/>
        </p:nvSpPr>
        <p:spPr>
          <a:xfrm rot="2700000">
            <a:off x="1400175" y="4010025"/>
            <a:ext cx="85725" cy="85725"/>
          </a:xfrm>
          <a:prstGeom prst="rect">
            <a:avLst/>
          </a:prstGeom>
          <a:solidFill>
            <a:srgbClr val="7C1D2A"/>
          </a:solidFill>
          <a:ln/>
        </p:spPr>
      </p:sp>
      <p:sp>
        <p:nvSpPr>
          <p:cNvPr id="12" name="Text 6"/>
          <p:cNvSpPr/>
          <p:nvPr/>
        </p:nvSpPr>
        <p:spPr>
          <a:xfrm>
            <a:off x="1638300" y="3886200"/>
            <a:ext cx="7201091" cy="1230362"/>
          </a:xfrm>
          <a:prstGeom prst="rect">
            <a:avLst/>
          </a:prstGeom>
          <a:noFill/>
          <a:ln/>
        </p:spPr>
        <p:txBody>
          <a:bodyPr wrap="square" lIns="25400" tIns="25400" rIns="25400" bIns="25400" rtlCol="0" anchor="t">
            <a:normAutofit/>
          </a:bodyPr>
          <a:lstStyle/>
          <a:p>
            <a:pPr algn="l" indent="0" marL="0">
              <a:lnSpc>
                <a:spcPct val="138000"/>
              </a:lnSpc>
              <a:buNone/>
            </a:pPr>
            <a:r>
              <a:rPr lang="en-US" sz="2250" b="1" dirty="0">
                <a:solidFill>
                  <a:srgbClr val="2A1A1B"/>
                </a:solidFill>
                <a:latin typeface="Arial" pitchFamily="34" charset="0"/>
                <a:ea typeface="Arial" pitchFamily="34" charset="-122"/>
                <a:cs typeface="Arial" pitchFamily="34" charset="-120"/>
              </a:rPr>
              <a:t>Conventional: </a:t>
            </a:r>
            <a:pPr algn="l" indent="0" marL="0">
              <a:lnSpc>
                <a:spcPct val="138000"/>
              </a:lnSpc>
              <a:buNone/>
            </a:pPr>
            <a:r>
              <a:rPr lang="en-US" sz="2250" dirty="0">
                <a:solidFill>
                  <a:srgbClr val="2A1A1B"/>
                </a:solidFill>
                <a:latin typeface="Arial" pitchFamily="34" charset="0"/>
                <a:ea typeface="Arial" pitchFamily="34" charset="-122"/>
                <a:cs typeface="Arial" pitchFamily="34" charset="-120"/>
              </a:rPr>
              <a:t>a clinician manually interprets each CBC report — accurate, but slow and dependent on scarce expert availability.</a:t>
            </a:r>
            <a:endParaRPr lang="en-US" sz="2250" dirty="0"/>
          </a:p>
        </p:txBody>
      </p:sp>
      <p:sp>
        <p:nvSpPr>
          <p:cNvPr id="13" name="Shape 7"/>
          <p:cNvSpPr/>
          <p:nvPr/>
        </p:nvSpPr>
        <p:spPr>
          <a:xfrm rot="2700000">
            <a:off x="1400175" y="5449937"/>
            <a:ext cx="85725" cy="85725"/>
          </a:xfrm>
          <a:prstGeom prst="rect">
            <a:avLst/>
          </a:prstGeom>
          <a:solidFill>
            <a:srgbClr val="7C1D2A"/>
          </a:solidFill>
          <a:ln/>
        </p:spPr>
      </p:sp>
      <p:sp>
        <p:nvSpPr>
          <p:cNvPr id="14" name="Text 8"/>
          <p:cNvSpPr/>
          <p:nvPr/>
        </p:nvSpPr>
        <p:spPr>
          <a:xfrm>
            <a:off x="1638300" y="5326112"/>
            <a:ext cx="7201091" cy="836116"/>
          </a:xfrm>
          <a:prstGeom prst="rect">
            <a:avLst/>
          </a:prstGeom>
          <a:noFill/>
          <a:ln/>
        </p:spPr>
        <p:txBody>
          <a:bodyPr wrap="square" lIns="25400" tIns="25400" rIns="25400" bIns="25400" rtlCol="0" anchor="t">
            <a:normAutofit/>
          </a:bodyPr>
          <a:lstStyle/>
          <a:p>
            <a:pPr algn="l" indent="0" marL="0">
              <a:lnSpc>
                <a:spcPct val="138000"/>
              </a:lnSpc>
              <a:buNone/>
            </a:pPr>
            <a:r>
              <a:rPr lang="en-US" sz="2250" b="1" dirty="0">
                <a:solidFill>
                  <a:srgbClr val="2A1A1B"/>
                </a:solidFill>
                <a:latin typeface="Arial" pitchFamily="34" charset="0"/>
                <a:ea typeface="Arial" pitchFamily="34" charset="-122"/>
                <a:cs typeface="Arial" pitchFamily="34" charset="-120"/>
              </a:rPr>
              <a:t>Prior ML: </a:t>
            </a:r>
            <a:pPr algn="l" indent="0" marL="0">
              <a:lnSpc>
                <a:spcPct val="138000"/>
              </a:lnSpc>
              <a:buNone/>
            </a:pPr>
            <a:r>
              <a:rPr lang="en-US" sz="2250" dirty="0">
                <a:solidFill>
                  <a:srgbClr val="2A1A1B"/>
                </a:solidFill>
                <a:latin typeface="Arial" pitchFamily="34" charset="0"/>
                <a:ea typeface="Arial" pitchFamily="34" charset="-122"/>
                <a:cs typeface="Arial" pitchFamily="34" charset="-120"/>
              </a:rPr>
              <a:t>focused almost entirely on maximising accuracy.</a:t>
            </a:r>
            <a:endParaRPr lang="en-US" sz="2250" dirty="0"/>
          </a:p>
        </p:txBody>
      </p:sp>
      <p:sp>
        <p:nvSpPr>
          <p:cNvPr id="15" name="Shape 9"/>
          <p:cNvSpPr/>
          <p:nvPr/>
        </p:nvSpPr>
        <p:spPr>
          <a:xfrm>
            <a:off x="9305925" y="2771775"/>
            <a:ext cx="7934325" cy="6753225"/>
          </a:xfrm>
          <a:prstGeom prst="roundRect">
            <a:avLst>
              <a:gd name="adj" fmla="val 2539"/>
            </a:avLst>
          </a:prstGeom>
          <a:solidFill>
            <a:srgbClr val="EDE4D6"/>
          </a:solidFill>
          <a:ln w="9525">
            <a:solidFill>
              <a:srgbClr val="E2D7C7"/>
            </a:solidFill>
            <a:prstDash val="solid"/>
          </a:ln>
        </p:spPr>
      </p:sp>
      <p:sp>
        <p:nvSpPr>
          <p:cNvPr id="16" name="Text 10"/>
          <p:cNvSpPr/>
          <p:nvPr/>
        </p:nvSpPr>
        <p:spPr>
          <a:xfrm>
            <a:off x="9658350" y="3105150"/>
            <a:ext cx="7952423"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A8323E"/>
                </a:solidFill>
                <a:latin typeface="Courier New" pitchFamily="34" charset="0"/>
                <a:ea typeface="Courier New" pitchFamily="34" charset="-122"/>
                <a:cs typeface="Courier New" pitchFamily="34" charset="-120"/>
              </a:rPr>
              <a:t>WHERE IT FALLS SHORT</a:t>
            </a:r>
            <a:endParaRPr lang="en-US" sz="1725" dirty="0"/>
          </a:p>
        </p:txBody>
      </p:sp>
      <p:sp>
        <p:nvSpPr>
          <p:cNvPr id="17" name="Text 11"/>
          <p:cNvSpPr/>
          <p:nvPr/>
        </p:nvSpPr>
        <p:spPr>
          <a:xfrm>
            <a:off x="9658350" y="3619500"/>
            <a:ext cx="247650" cy="420886"/>
          </a:xfrm>
          <a:prstGeom prst="rect">
            <a:avLst/>
          </a:prstGeom>
          <a:noFill/>
          <a:ln/>
        </p:spPr>
        <p:txBody>
          <a:bodyPr wrap="square" lIns="25400" tIns="25400" rIns="25400" bIns="25400" rtlCol="0" anchor="t">
            <a:normAutofit/>
          </a:bodyPr>
          <a:lstStyle/>
          <a:p>
            <a:pPr algn="l" indent="0" marL="0">
              <a:lnSpc>
                <a:spcPct val="134000"/>
              </a:lnSpc>
              <a:buNone/>
            </a:pPr>
            <a:r>
              <a:rPr lang="en-US" sz="2250" b="1" dirty="0">
                <a:solidFill>
                  <a:srgbClr val="A8323E"/>
                </a:solidFill>
                <a:latin typeface="Courier New" pitchFamily="34" charset="0"/>
                <a:ea typeface="Courier New" pitchFamily="34" charset="-122"/>
                <a:cs typeface="Courier New" pitchFamily="34" charset="-120"/>
              </a:rPr>
              <a:t>1</a:t>
            </a:r>
            <a:endParaRPr lang="en-US" sz="2250" dirty="0"/>
          </a:p>
        </p:txBody>
      </p:sp>
      <p:sp>
        <p:nvSpPr>
          <p:cNvPr id="18" name="Text 12"/>
          <p:cNvSpPr/>
          <p:nvPr/>
        </p:nvSpPr>
        <p:spPr>
          <a:xfrm>
            <a:off x="10001250" y="3619500"/>
            <a:ext cx="7093172" cy="787896"/>
          </a:xfrm>
          <a:prstGeom prst="rect">
            <a:avLst/>
          </a:prstGeom>
          <a:noFill/>
          <a:ln/>
        </p:spPr>
        <p:txBody>
          <a:bodyPr wrap="square" lIns="25400" tIns="25400" rIns="25400" bIns="25400" rtlCol="0" anchor="t">
            <a:normAutofit/>
          </a:bodyPr>
          <a:lstStyle/>
          <a:p>
            <a:pPr algn="l" indent="0" marL="0">
              <a:lnSpc>
                <a:spcPct val="134000"/>
              </a:lnSpc>
              <a:buNone/>
            </a:pPr>
            <a:r>
              <a:rPr lang="en-US" sz="2175" b="1" dirty="0">
                <a:solidFill>
                  <a:srgbClr val="2A1A1B"/>
                </a:solidFill>
                <a:latin typeface="Arial" pitchFamily="34" charset="0"/>
                <a:ea typeface="Arial" pitchFamily="34" charset="-122"/>
                <a:cs typeface="Arial" pitchFamily="34" charset="-120"/>
              </a:rPr>
              <a:t>Black boxes </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 no per-patient justification, so clinicians cannot audit or trust the output.</a:t>
            </a:r>
            <a:endParaRPr lang="en-US" sz="2175" dirty="0"/>
          </a:p>
        </p:txBody>
      </p:sp>
      <p:sp>
        <p:nvSpPr>
          <p:cNvPr id="19" name="Text 13"/>
          <p:cNvSpPr/>
          <p:nvPr/>
        </p:nvSpPr>
        <p:spPr>
          <a:xfrm>
            <a:off x="9658350" y="4578846"/>
            <a:ext cx="247650" cy="420886"/>
          </a:xfrm>
          <a:prstGeom prst="rect">
            <a:avLst/>
          </a:prstGeom>
          <a:noFill/>
          <a:ln/>
        </p:spPr>
        <p:txBody>
          <a:bodyPr wrap="square" lIns="25400" tIns="25400" rIns="25400" bIns="25400" rtlCol="0" anchor="t">
            <a:normAutofit/>
          </a:bodyPr>
          <a:lstStyle/>
          <a:p>
            <a:pPr algn="l" indent="0" marL="0">
              <a:lnSpc>
                <a:spcPct val="134000"/>
              </a:lnSpc>
              <a:buNone/>
            </a:pPr>
            <a:r>
              <a:rPr lang="en-US" sz="2250" b="1" dirty="0">
                <a:solidFill>
                  <a:srgbClr val="A8323E"/>
                </a:solidFill>
                <a:latin typeface="Courier New" pitchFamily="34" charset="0"/>
                <a:ea typeface="Courier New" pitchFamily="34" charset="-122"/>
                <a:cs typeface="Courier New" pitchFamily="34" charset="-120"/>
              </a:rPr>
              <a:t>2</a:t>
            </a:r>
            <a:endParaRPr lang="en-US" sz="2250" dirty="0"/>
          </a:p>
        </p:txBody>
      </p:sp>
      <p:sp>
        <p:nvSpPr>
          <p:cNvPr id="20" name="Text 14"/>
          <p:cNvSpPr/>
          <p:nvPr/>
        </p:nvSpPr>
        <p:spPr>
          <a:xfrm>
            <a:off x="10001250" y="4578846"/>
            <a:ext cx="7093172" cy="787896"/>
          </a:xfrm>
          <a:prstGeom prst="rect">
            <a:avLst/>
          </a:prstGeom>
          <a:noFill/>
          <a:ln/>
        </p:spPr>
        <p:txBody>
          <a:bodyPr wrap="square" lIns="25400" tIns="25400" rIns="25400" bIns="25400" rtlCol="0" anchor="t">
            <a:normAutofit/>
          </a:bodyPr>
          <a:lstStyle/>
          <a:p>
            <a:pPr algn="l" indent="0" marL="0">
              <a:lnSpc>
                <a:spcPct val="134000"/>
              </a:lnSpc>
              <a:buNone/>
            </a:pPr>
            <a:r>
              <a:rPr lang="en-US" sz="2175" b="1" dirty="0">
                <a:solidFill>
                  <a:srgbClr val="2A1A1B"/>
                </a:solidFill>
                <a:latin typeface="Arial" pitchFamily="34" charset="0"/>
                <a:ea typeface="Arial" pitchFamily="34" charset="-122"/>
                <a:cs typeface="Arial" pitchFamily="34" charset="-120"/>
              </a:rPr>
              <a:t>Label leakage ignored </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 inflated accuracy that doesn't reflect real medical skill.</a:t>
            </a:r>
            <a:endParaRPr lang="en-US" sz="2175" dirty="0"/>
          </a:p>
        </p:txBody>
      </p:sp>
      <p:sp>
        <p:nvSpPr>
          <p:cNvPr id="21" name="Text 15"/>
          <p:cNvSpPr/>
          <p:nvPr/>
        </p:nvSpPr>
        <p:spPr>
          <a:xfrm>
            <a:off x="9658350" y="5538192"/>
            <a:ext cx="247650" cy="420886"/>
          </a:xfrm>
          <a:prstGeom prst="rect">
            <a:avLst/>
          </a:prstGeom>
          <a:noFill/>
          <a:ln/>
        </p:spPr>
        <p:txBody>
          <a:bodyPr wrap="square" lIns="25400" tIns="25400" rIns="25400" bIns="25400" rtlCol="0" anchor="t">
            <a:normAutofit/>
          </a:bodyPr>
          <a:lstStyle/>
          <a:p>
            <a:pPr algn="l" indent="0" marL="0">
              <a:lnSpc>
                <a:spcPct val="134000"/>
              </a:lnSpc>
              <a:buNone/>
            </a:pPr>
            <a:r>
              <a:rPr lang="en-US" sz="2250" b="1" dirty="0">
                <a:solidFill>
                  <a:srgbClr val="A8323E"/>
                </a:solidFill>
                <a:latin typeface="Courier New" pitchFamily="34" charset="0"/>
                <a:ea typeface="Courier New" pitchFamily="34" charset="-122"/>
                <a:cs typeface="Courier New" pitchFamily="34" charset="-120"/>
              </a:rPr>
              <a:t>3</a:t>
            </a:r>
            <a:endParaRPr lang="en-US" sz="2250" dirty="0"/>
          </a:p>
        </p:txBody>
      </p:sp>
      <p:sp>
        <p:nvSpPr>
          <p:cNvPr id="22" name="Text 16"/>
          <p:cNvSpPr/>
          <p:nvPr/>
        </p:nvSpPr>
        <p:spPr>
          <a:xfrm>
            <a:off x="10001250" y="5538192"/>
            <a:ext cx="7435096" cy="417761"/>
          </a:xfrm>
          <a:prstGeom prst="rect">
            <a:avLst/>
          </a:prstGeom>
          <a:noFill/>
          <a:ln/>
        </p:spPr>
        <p:txBody>
          <a:bodyPr wrap="square" lIns="25400" tIns="25400" rIns="25400" bIns="25400" rtlCol="0" anchor="t">
            <a:normAutofit/>
          </a:bodyPr>
          <a:lstStyle/>
          <a:p>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Rarely shipped as a </a:t>
            </a:r>
            <a:pPr algn="l" indent="0" marL="0">
              <a:lnSpc>
                <a:spcPct val="134000"/>
              </a:lnSpc>
              <a:buNone/>
            </a:pPr>
            <a:r>
              <a:rPr lang="en-US" sz="2175" b="1" dirty="0">
                <a:solidFill>
                  <a:srgbClr val="2A1A1B"/>
                </a:solidFill>
                <a:latin typeface="Arial" pitchFamily="34" charset="0"/>
                <a:ea typeface="Arial" pitchFamily="34" charset="-122"/>
                <a:cs typeface="Arial" pitchFamily="34" charset="-120"/>
              </a:rPr>
              <a:t>usable, interpretable interface</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04938"/>
            <a:ext cx="209550" cy="209550"/>
          </a:xfrm>
          <a:prstGeom prst="rect">
            <a:avLst/>
          </a:prstGeom>
        </p:spPr>
      </p:pic>
      <p:sp>
        <p:nvSpPr>
          <p:cNvPr id="3" name="Text 0"/>
          <p:cNvSpPr/>
          <p:nvPr/>
        </p:nvSpPr>
        <p:spPr>
          <a:xfrm>
            <a:off x="1371600" y="135255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3144500" y="5334000"/>
            <a:ext cx="5334000" cy="5334000"/>
          </a:xfrm>
          <a:prstGeom prst="rect">
            <a:avLst/>
          </a:prstGeom>
        </p:spPr>
      </p:pic>
      <p:sp>
        <p:nvSpPr>
          <p:cNvPr id="5" name="Text 1"/>
          <p:cNvSpPr/>
          <p:nvPr/>
        </p:nvSpPr>
        <p:spPr>
          <a:xfrm>
            <a:off x="1047750" y="1838325"/>
            <a:ext cx="5263798"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Proposed System</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05</a:t>
            </a:r>
            <a:endParaRPr lang="en-US" sz="3600" dirty="0"/>
          </a:p>
        </p:txBody>
      </p:sp>
      <p:sp>
        <p:nvSpPr>
          <p:cNvPr id="8" name="Text 3"/>
          <p:cNvSpPr/>
          <p:nvPr/>
        </p:nvSpPr>
        <p:spPr>
          <a:xfrm>
            <a:off x="1047750" y="2752725"/>
            <a:ext cx="11772900" cy="912316"/>
          </a:xfrm>
          <a:prstGeom prst="rect">
            <a:avLst/>
          </a:prstGeom>
          <a:noFill/>
          <a:ln/>
        </p:spPr>
        <p:txBody>
          <a:bodyPr wrap="square" lIns="25400" tIns="25400" rIns="25400" bIns="25400" rtlCol="0" anchor="t">
            <a:normAutofit/>
          </a:bodyPr>
          <a:lstStyle/>
          <a:p>
            <a:pPr algn="l" indent="0" marL="0">
              <a:lnSpc>
                <a:spcPct val="135000"/>
              </a:lnSpc>
              <a:buNone/>
            </a:pPr>
            <a:r>
              <a:rPr lang="en-US" sz="2550" b="1" dirty="0">
                <a:solidFill>
                  <a:srgbClr val="7C1D2A"/>
                </a:solidFill>
                <a:latin typeface="Arial" pitchFamily="34" charset="0"/>
                <a:ea typeface="Arial" pitchFamily="34" charset="-122"/>
                <a:cs typeface="Arial" pitchFamily="34" charset="-120"/>
              </a:rPr>
              <a:t>A transparent pipeline that prioritises trust and comparison — not just accuracy.</a:t>
            </a:r>
            <a:endParaRPr lang="en-US" sz="2550" dirty="0"/>
          </a:p>
        </p:txBody>
      </p:sp>
      <p:sp>
        <p:nvSpPr>
          <p:cNvPr id="9" name="Shape 4"/>
          <p:cNvSpPr/>
          <p:nvPr/>
        </p:nvSpPr>
        <p:spPr>
          <a:xfrm>
            <a:off x="1047750" y="3969841"/>
            <a:ext cx="7991475" cy="1847999"/>
          </a:xfrm>
          <a:prstGeom prst="roundRect">
            <a:avLst>
              <a:gd name="adj" fmla="val 8247"/>
            </a:avLst>
          </a:prstGeom>
          <a:solidFill>
            <a:srgbClr val="EDE4D6"/>
          </a:solidFill>
          <a:ln w="9525">
            <a:solidFill>
              <a:srgbClr val="E2D7C7"/>
            </a:solidFill>
            <a:prstDash val="solid"/>
          </a:ln>
        </p:spPr>
      </p:sp>
      <p:sp>
        <p:nvSpPr>
          <p:cNvPr id="10" name="Shape 5"/>
          <p:cNvSpPr/>
          <p:nvPr/>
        </p:nvSpPr>
        <p:spPr>
          <a:xfrm rot="2700000">
            <a:off x="1343025" y="4331791"/>
            <a:ext cx="95250" cy="95250"/>
          </a:xfrm>
          <a:prstGeom prst="rect">
            <a:avLst/>
          </a:prstGeom>
          <a:solidFill>
            <a:srgbClr val="7C1D2A"/>
          </a:solidFill>
          <a:ln/>
        </p:spPr>
      </p:sp>
      <p:sp>
        <p:nvSpPr>
          <p:cNvPr id="11" name="Text 6"/>
          <p:cNvSpPr/>
          <p:nvPr/>
        </p:nvSpPr>
        <p:spPr>
          <a:xfrm>
            <a:off x="1609725" y="4227016"/>
            <a:ext cx="7348252" cy="778371"/>
          </a:xfrm>
          <a:prstGeom prst="rect">
            <a:avLst/>
          </a:prstGeom>
          <a:noFill/>
          <a:ln/>
        </p:spPr>
        <p:txBody>
          <a:bodyPr wrap="square" lIns="25400" tIns="25400" rIns="25400" bIns="25400" rtlCol="0" anchor="t">
            <a:normAutofit/>
          </a:bodyPr>
          <a:lstStyle/>
          <a:p>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Compare three models on five metrics, and select the best on aggregate results.</a:t>
            </a:r>
            <a:endParaRPr lang="en-US" sz="2175" dirty="0"/>
          </a:p>
        </p:txBody>
      </p:sp>
      <p:sp>
        <p:nvSpPr>
          <p:cNvPr id="12" name="Shape 7"/>
          <p:cNvSpPr/>
          <p:nvPr/>
        </p:nvSpPr>
        <p:spPr>
          <a:xfrm>
            <a:off x="9248775" y="3969841"/>
            <a:ext cx="7991475" cy="1847999"/>
          </a:xfrm>
          <a:prstGeom prst="roundRect">
            <a:avLst>
              <a:gd name="adj" fmla="val 8247"/>
            </a:avLst>
          </a:prstGeom>
          <a:solidFill>
            <a:srgbClr val="EDE4D6"/>
          </a:solidFill>
          <a:ln w="9525">
            <a:solidFill>
              <a:srgbClr val="E2D7C7"/>
            </a:solidFill>
            <a:prstDash val="solid"/>
          </a:ln>
        </p:spPr>
      </p:sp>
      <p:sp>
        <p:nvSpPr>
          <p:cNvPr id="13" name="Shape 8"/>
          <p:cNvSpPr/>
          <p:nvPr/>
        </p:nvSpPr>
        <p:spPr>
          <a:xfrm rot="2700000">
            <a:off x="9544050" y="4331791"/>
            <a:ext cx="95250" cy="95250"/>
          </a:xfrm>
          <a:prstGeom prst="rect">
            <a:avLst/>
          </a:prstGeom>
          <a:solidFill>
            <a:srgbClr val="7C1D2A"/>
          </a:solidFill>
          <a:ln/>
        </p:spPr>
      </p:sp>
      <p:sp>
        <p:nvSpPr>
          <p:cNvPr id="14" name="Text 9"/>
          <p:cNvSpPr/>
          <p:nvPr/>
        </p:nvSpPr>
        <p:spPr>
          <a:xfrm>
            <a:off x="9810750" y="4227016"/>
            <a:ext cx="7348252" cy="787896"/>
          </a:xfrm>
          <a:prstGeom prst="rect">
            <a:avLst/>
          </a:prstGeom>
          <a:noFill/>
          <a:ln/>
        </p:spPr>
        <p:txBody>
          <a:bodyPr wrap="square" lIns="25400" tIns="25400" rIns="25400" bIns="25400" rtlCol="0" anchor="t">
            <a:normAutofit/>
          </a:bodyPr>
          <a:lstStyle/>
          <a:p>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Attach </a:t>
            </a:r>
            <a:pPr algn="l" indent="0" marL="0">
              <a:lnSpc>
                <a:spcPct val="134000"/>
              </a:lnSpc>
              <a:buNone/>
            </a:pPr>
            <a:r>
              <a:rPr lang="en-US" sz="2175" b="1" dirty="0">
                <a:solidFill>
                  <a:srgbClr val="2A1A1B"/>
                </a:solidFill>
                <a:latin typeface="Arial" pitchFamily="34" charset="0"/>
                <a:ea typeface="Arial" pitchFamily="34" charset="-122"/>
                <a:cs typeface="Arial" pitchFamily="34" charset="-120"/>
              </a:rPr>
              <a:t>SHAP (primary) + LIME (cross-check) </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to every prediction.</a:t>
            </a:r>
            <a:endParaRPr lang="en-US" sz="2175" dirty="0"/>
          </a:p>
        </p:txBody>
      </p:sp>
      <p:sp>
        <p:nvSpPr>
          <p:cNvPr id="15" name="Shape 10"/>
          <p:cNvSpPr/>
          <p:nvPr/>
        </p:nvSpPr>
        <p:spPr>
          <a:xfrm>
            <a:off x="1047750" y="6027390"/>
            <a:ext cx="7991475" cy="1848148"/>
          </a:xfrm>
          <a:prstGeom prst="roundRect">
            <a:avLst>
              <a:gd name="adj" fmla="val 8246"/>
            </a:avLst>
          </a:prstGeom>
          <a:solidFill>
            <a:srgbClr val="EDE4D6"/>
          </a:solidFill>
          <a:ln w="9525">
            <a:solidFill>
              <a:srgbClr val="E2D7C7"/>
            </a:solidFill>
            <a:prstDash val="solid"/>
          </a:ln>
        </p:spPr>
      </p:sp>
      <p:sp>
        <p:nvSpPr>
          <p:cNvPr id="16" name="Shape 11"/>
          <p:cNvSpPr/>
          <p:nvPr/>
        </p:nvSpPr>
        <p:spPr>
          <a:xfrm rot="2700000">
            <a:off x="1343025" y="6389340"/>
            <a:ext cx="95250" cy="95250"/>
          </a:xfrm>
          <a:prstGeom prst="rect">
            <a:avLst/>
          </a:prstGeom>
          <a:solidFill>
            <a:srgbClr val="7C1D2A"/>
          </a:solidFill>
          <a:ln/>
        </p:spPr>
      </p:sp>
      <p:sp>
        <p:nvSpPr>
          <p:cNvPr id="17" name="Text 12"/>
          <p:cNvSpPr/>
          <p:nvPr/>
        </p:nvSpPr>
        <p:spPr>
          <a:xfrm>
            <a:off x="1609725" y="6284565"/>
            <a:ext cx="7348252" cy="778371"/>
          </a:xfrm>
          <a:prstGeom prst="rect">
            <a:avLst/>
          </a:prstGeom>
          <a:noFill/>
          <a:ln/>
        </p:spPr>
        <p:txBody>
          <a:bodyPr wrap="square" lIns="25400" tIns="25400" rIns="25400" bIns="25400" rtlCol="0" anchor="t">
            <a:normAutofit/>
          </a:bodyPr>
          <a:lstStyle/>
          <a:p>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Run a two-track experiment — </a:t>
            </a:r>
            <a:pPr algn="l" indent="0" marL="0">
              <a:lnSpc>
                <a:spcPct val="134000"/>
              </a:lnSpc>
              <a:buNone/>
            </a:pPr>
            <a:r>
              <a:rPr lang="en-US" sz="1950" dirty="0">
                <a:solidFill>
                  <a:srgbClr val="2A1A1B"/>
                </a:solidFill>
                <a:latin typeface="Courier New" pitchFamily="34" charset="0"/>
                <a:ea typeface="Courier New" pitchFamily="34" charset="-122"/>
                <a:cs typeface="Courier New" pitchFamily="34" charset="-120"/>
              </a:rPr>
              <a:t>full </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(with Hb) vs </a:t>
            </a:r>
            <a:pPr algn="l" indent="0" marL="0">
              <a:lnSpc>
                <a:spcPct val="134000"/>
              </a:lnSpc>
              <a:buNone/>
            </a:pPr>
            <a:r>
              <a:rPr lang="en-US" sz="1950" dirty="0">
                <a:solidFill>
                  <a:srgbClr val="2A1A1B"/>
                </a:solidFill>
                <a:latin typeface="Courier New" pitchFamily="34" charset="0"/>
                <a:ea typeface="Courier New" pitchFamily="34" charset="-122"/>
                <a:cs typeface="Courier New" pitchFamily="34" charset="-120"/>
              </a:rPr>
              <a:t>nohb </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(Hb removed) — to quantify where the power comes from.</a:t>
            </a:r>
            <a:endParaRPr lang="en-US" sz="2175" dirty="0"/>
          </a:p>
        </p:txBody>
      </p:sp>
      <p:sp>
        <p:nvSpPr>
          <p:cNvPr id="18" name="Shape 13"/>
          <p:cNvSpPr/>
          <p:nvPr/>
        </p:nvSpPr>
        <p:spPr>
          <a:xfrm>
            <a:off x="9248775" y="6027390"/>
            <a:ext cx="7991475" cy="1848148"/>
          </a:xfrm>
          <a:prstGeom prst="roundRect">
            <a:avLst>
              <a:gd name="adj" fmla="val 8246"/>
            </a:avLst>
          </a:prstGeom>
          <a:solidFill>
            <a:srgbClr val="EDE4D6"/>
          </a:solidFill>
          <a:ln w="9525">
            <a:solidFill>
              <a:srgbClr val="E2D7C7"/>
            </a:solidFill>
            <a:prstDash val="solid"/>
          </a:ln>
        </p:spPr>
      </p:sp>
      <p:sp>
        <p:nvSpPr>
          <p:cNvPr id="19" name="Shape 14"/>
          <p:cNvSpPr/>
          <p:nvPr/>
        </p:nvSpPr>
        <p:spPr>
          <a:xfrm rot="2700000">
            <a:off x="9544050" y="6389340"/>
            <a:ext cx="95250" cy="95250"/>
          </a:xfrm>
          <a:prstGeom prst="rect">
            <a:avLst/>
          </a:prstGeom>
          <a:solidFill>
            <a:srgbClr val="7C1D2A"/>
          </a:solidFill>
          <a:ln/>
        </p:spPr>
      </p:sp>
      <p:sp>
        <p:nvSpPr>
          <p:cNvPr id="20" name="Text 15"/>
          <p:cNvSpPr/>
          <p:nvPr/>
        </p:nvSpPr>
        <p:spPr>
          <a:xfrm>
            <a:off x="9810750" y="6284565"/>
            <a:ext cx="7348252" cy="787896"/>
          </a:xfrm>
          <a:prstGeom prst="rect">
            <a:avLst/>
          </a:prstGeom>
          <a:noFill/>
          <a:ln/>
        </p:spPr>
        <p:txBody>
          <a:bodyPr wrap="square" lIns="25400" tIns="25400" rIns="25400" bIns="25400" rtlCol="0" anchor="t">
            <a:normAutofit/>
          </a:bodyPr>
          <a:lstStyle/>
          <a:p>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Deliver a </a:t>
            </a:r>
            <a:pPr algn="l" indent="0" marL="0">
              <a:lnSpc>
                <a:spcPct val="134000"/>
              </a:lnSpc>
              <a:buNone/>
            </a:pPr>
            <a:r>
              <a:rPr lang="en-US" sz="2175" b="1" dirty="0">
                <a:solidFill>
                  <a:srgbClr val="2A1A1B"/>
                </a:solidFill>
                <a:latin typeface="Arial" pitchFamily="34" charset="0"/>
                <a:ea typeface="Arial" pitchFamily="34" charset="-122"/>
                <a:cs typeface="Arial" pitchFamily="34" charset="-120"/>
              </a:rPr>
              <a:t>Streamlit web app </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 prediction + confidence + the "why".</a:t>
            </a:r>
            <a:endParaRPr lang="en-US" sz="2175" dirty="0"/>
          </a:p>
        </p:txBody>
      </p:sp>
      <p:sp>
        <p:nvSpPr>
          <p:cNvPr id="21" name="Shape 16"/>
          <p:cNvSpPr/>
          <p:nvPr/>
        </p:nvSpPr>
        <p:spPr>
          <a:xfrm>
            <a:off x="1047750" y="8085088"/>
            <a:ext cx="16192500" cy="1439912"/>
          </a:xfrm>
          <a:prstGeom prst="roundRect">
            <a:avLst>
              <a:gd name="adj" fmla="val 10584"/>
            </a:avLst>
          </a:prstGeom>
          <a:solidFill>
            <a:srgbClr val="EFDCD8"/>
          </a:solidFill>
          <a:ln w="9525">
            <a:solidFill>
              <a:srgbClr val="E3C9C4"/>
            </a:solidFill>
            <a:prstDash val="solid"/>
          </a:ln>
        </p:spPr>
      </p:sp>
      <p:sp>
        <p:nvSpPr>
          <p:cNvPr id="22" name="Shape 17"/>
          <p:cNvSpPr/>
          <p:nvPr/>
        </p:nvSpPr>
        <p:spPr>
          <a:xfrm rot="2700000">
            <a:off x="1343025" y="8427988"/>
            <a:ext cx="95250" cy="95250"/>
          </a:xfrm>
          <a:prstGeom prst="rect">
            <a:avLst/>
          </a:prstGeom>
          <a:solidFill>
            <a:srgbClr val="7C1D2A"/>
          </a:solidFill>
          <a:ln/>
        </p:spPr>
      </p:sp>
      <p:sp>
        <p:nvSpPr>
          <p:cNvPr id="23" name="Text 18"/>
          <p:cNvSpPr/>
          <p:nvPr/>
        </p:nvSpPr>
        <p:spPr>
          <a:xfrm>
            <a:off x="1609725" y="8323213"/>
            <a:ext cx="9404375" cy="417761"/>
          </a:xfrm>
          <a:prstGeom prst="rect">
            <a:avLst/>
          </a:prstGeom>
          <a:noFill/>
          <a:ln/>
        </p:spPr>
        <p:txBody>
          <a:bodyPr wrap="square" lIns="25400" tIns="25400" rIns="25400" bIns="25400" rtlCol="0" anchor="t">
            <a:normAutofit/>
          </a:bodyPr>
          <a:lstStyle/>
          <a:p>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Educational prototype framing, with a </a:t>
            </a:r>
            <a:pPr algn="l" indent="0" marL="0">
              <a:lnSpc>
                <a:spcPct val="134000"/>
              </a:lnSpc>
              <a:buNone/>
            </a:pPr>
            <a:r>
              <a:rPr lang="en-US" sz="2175" b="1" dirty="0">
                <a:solidFill>
                  <a:srgbClr val="2A1A1B"/>
                </a:solidFill>
                <a:latin typeface="Arial" pitchFamily="34" charset="0"/>
                <a:ea typeface="Arial" pitchFamily="34" charset="-122"/>
                <a:cs typeface="Arial" pitchFamily="34" charset="-120"/>
              </a:rPr>
              <a:t>disclaimer on every surface</a:t>
            </a:r>
            <a:pPr algn="l" indent="0" marL="0">
              <a:lnSpc>
                <a:spcPct val="134000"/>
              </a:lnSpc>
              <a:buNone/>
            </a:pPr>
            <a:r>
              <a:rPr lang="en-US" sz="2175" dirty="0">
                <a:solidFill>
                  <a:srgbClr val="2A1A1B"/>
                </a:solidFill>
                <a:latin typeface="Arial" pitchFamily="34" charset="0"/>
                <a:ea typeface="Arial" pitchFamily="34" charset="-122"/>
                <a:cs typeface="Arial" pitchFamily="34" charset="-120"/>
              </a:rPr>
              <a:t>.</a:t>
            </a:r>
            <a:endParaRPr lang="en-US" sz="21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04938"/>
            <a:ext cx="209550" cy="209550"/>
          </a:xfrm>
          <a:prstGeom prst="rect">
            <a:avLst/>
          </a:prstGeom>
        </p:spPr>
      </p:pic>
      <p:sp>
        <p:nvSpPr>
          <p:cNvPr id="3" name="Text 0"/>
          <p:cNvSpPr/>
          <p:nvPr/>
        </p:nvSpPr>
        <p:spPr>
          <a:xfrm>
            <a:off x="1371600" y="135255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2287250" y="5638800"/>
            <a:ext cx="6286500" cy="4838700"/>
          </a:xfrm>
          <a:prstGeom prst="rect">
            <a:avLst/>
          </a:prstGeom>
        </p:spPr>
      </p:pic>
      <p:sp>
        <p:nvSpPr>
          <p:cNvPr id="5" name="Text 1"/>
          <p:cNvSpPr/>
          <p:nvPr/>
        </p:nvSpPr>
        <p:spPr>
          <a:xfrm>
            <a:off x="1047750" y="1838325"/>
            <a:ext cx="673294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System Requirements</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06</a:t>
            </a:r>
            <a:endParaRPr lang="en-US" sz="3600" dirty="0"/>
          </a:p>
        </p:txBody>
      </p:sp>
      <p:sp>
        <p:nvSpPr>
          <p:cNvPr id="8" name="Shape 3"/>
          <p:cNvSpPr/>
          <p:nvPr/>
        </p:nvSpPr>
        <p:spPr>
          <a:xfrm>
            <a:off x="1047750" y="2752725"/>
            <a:ext cx="16192500" cy="2343150"/>
          </a:xfrm>
          <a:prstGeom prst="roundRect">
            <a:avLst>
              <a:gd name="adj" fmla="val 7317"/>
            </a:avLst>
          </a:prstGeom>
          <a:solidFill>
            <a:srgbClr val="EDE4D6"/>
          </a:solidFill>
          <a:ln w="9525">
            <a:solidFill>
              <a:srgbClr val="E2D7C7"/>
            </a:solidFill>
            <a:prstDash val="solid"/>
          </a:ln>
        </p:spPr>
      </p:sp>
      <p:sp>
        <p:nvSpPr>
          <p:cNvPr id="9" name="Text 4"/>
          <p:cNvSpPr/>
          <p:nvPr/>
        </p:nvSpPr>
        <p:spPr>
          <a:xfrm>
            <a:off x="1400175" y="3067050"/>
            <a:ext cx="17036415"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7C1D2A"/>
                </a:solidFill>
                <a:latin typeface="Courier New" pitchFamily="34" charset="0"/>
                <a:ea typeface="Courier New" pitchFamily="34" charset="-122"/>
                <a:cs typeface="Courier New" pitchFamily="34" charset="-120"/>
              </a:rPr>
              <a:t>SOFTWARE STACK</a:t>
            </a:r>
            <a:endParaRPr lang="en-US" sz="1725" dirty="0"/>
          </a:p>
        </p:txBody>
      </p:sp>
      <p:sp>
        <p:nvSpPr>
          <p:cNvPr id="10" name="Shape 5"/>
          <p:cNvSpPr/>
          <p:nvPr/>
        </p:nvSpPr>
        <p:spPr>
          <a:xfrm>
            <a:off x="1400175" y="3562350"/>
            <a:ext cx="1977479" cy="542925"/>
          </a:xfrm>
          <a:prstGeom prst="roundRect">
            <a:avLst>
              <a:gd name="adj" fmla="val 17544"/>
            </a:avLst>
          </a:prstGeom>
          <a:solidFill>
            <a:srgbClr val="7C1D2A"/>
          </a:solidFill>
          <a:ln/>
        </p:spPr>
      </p:sp>
      <p:sp>
        <p:nvSpPr>
          <p:cNvPr id="11" name="Text 6"/>
          <p:cNvSpPr/>
          <p:nvPr/>
        </p:nvSpPr>
        <p:spPr>
          <a:xfrm>
            <a:off x="1571625" y="3657600"/>
            <a:ext cx="1710779" cy="390525"/>
          </a:xfrm>
          <a:prstGeom prst="rect">
            <a:avLst/>
          </a:prstGeom>
          <a:noFill/>
          <a:ln/>
        </p:spPr>
        <p:txBody>
          <a:bodyPr wrap="square" lIns="25400" tIns="25400" rIns="25400" bIns="25400" rtlCol="0" anchor="t">
            <a:normAutofit/>
          </a:bodyPr>
          <a:lstStyle/>
          <a:p>
            <a:pPr algn="l" indent="0" marL="0">
              <a:buNone/>
            </a:pPr>
            <a:r>
              <a:rPr lang="en-US" sz="1950" dirty="0">
                <a:solidFill>
                  <a:srgbClr val="F7F1E9"/>
                </a:solidFill>
                <a:latin typeface="Courier New" pitchFamily="34" charset="0"/>
                <a:ea typeface="Courier New" pitchFamily="34" charset="-122"/>
                <a:cs typeface="Courier New" pitchFamily="34" charset="-120"/>
              </a:rPr>
              <a:t>Python 3.11</a:t>
            </a:r>
            <a:endParaRPr lang="en-US" sz="1950" dirty="0"/>
          </a:p>
        </p:txBody>
      </p:sp>
      <p:sp>
        <p:nvSpPr>
          <p:cNvPr id="12" name="Shape 7"/>
          <p:cNvSpPr/>
          <p:nvPr/>
        </p:nvSpPr>
        <p:spPr>
          <a:xfrm>
            <a:off x="3511004" y="3562350"/>
            <a:ext cx="2145060" cy="542925"/>
          </a:xfrm>
          <a:prstGeom prst="roundRect">
            <a:avLst>
              <a:gd name="adj" fmla="val 17544"/>
            </a:avLst>
          </a:prstGeom>
          <a:solidFill>
            <a:srgbClr val="FFFFFF"/>
          </a:solidFill>
          <a:ln w="9525">
            <a:solidFill>
              <a:srgbClr val="E2D7C7"/>
            </a:solidFill>
            <a:prstDash val="solid"/>
          </a:ln>
        </p:spPr>
      </p:sp>
      <p:sp>
        <p:nvSpPr>
          <p:cNvPr id="13" name="Text 8"/>
          <p:cNvSpPr/>
          <p:nvPr/>
        </p:nvSpPr>
        <p:spPr>
          <a:xfrm>
            <a:off x="3691979" y="3667125"/>
            <a:ext cx="185931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scikit-learn</a:t>
            </a:r>
            <a:endParaRPr lang="en-US" sz="1950" dirty="0"/>
          </a:p>
        </p:txBody>
      </p:sp>
      <p:sp>
        <p:nvSpPr>
          <p:cNvPr id="14" name="Shape 9"/>
          <p:cNvSpPr/>
          <p:nvPr/>
        </p:nvSpPr>
        <p:spPr>
          <a:xfrm>
            <a:off x="5789414" y="3562350"/>
            <a:ext cx="1402110" cy="542925"/>
          </a:xfrm>
          <a:prstGeom prst="roundRect">
            <a:avLst>
              <a:gd name="adj" fmla="val 17544"/>
            </a:avLst>
          </a:prstGeom>
          <a:solidFill>
            <a:srgbClr val="FFFFFF"/>
          </a:solidFill>
          <a:ln w="9525">
            <a:solidFill>
              <a:srgbClr val="E2D7C7"/>
            </a:solidFill>
            <a:prstDash val="solid"/>
          </a:ln>
        </p:spPr>
      </p:sp>
      <p:sp>
        <p:nvSpPr>
          <p:cNvPr id="15" name="Text 10"/>
          <p:cNvSpPr/>
          <p:nvPr/>
        </p:nvSpPr>
        <p:spPr>
          <a:xfrm>
            <a:off x="5970389" y="3667125"/>
            <a:ext cx="111636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XGBoost</a:t>
            </a:r>
            <a:endParaRPr lang="en-US" sz="1950" dirty="0"/>
          </a:p>
        </p:txBody>
      </p:sp>
      <p:sp>
        <p:nvSpPr>
          <p:cNvPr id="16" name="Shape 11"/>
          <p:cNvSpPr/>
          <p:nvPr/>
        </p:nvSpPr>
        <p:spPr>
          <a:xfrm>
            <a:off x="7324874" y="3562350"/>
            <a:ext cx="956370" cy="542925"/>
          </a:xfrm>
          <a:prstGeom prst="roundRect">
            <a:avLst>
              <a:gd name="adj" fmla="val 17544"/>
            </a:avLst>
          </a:prstGeom>
          <a:solidFill>
            <a:srgbClr val="FFFFFF"/>
          </a:solidFill>
          <a:ln w="9525">
            <a:solidFill>
              <a:srgbClr val="E2D7C7"/>
            </a:solidFill>
            <a:prstDash val="solid"/>
          </a:ln>
        </p:spPr>
      </p:sp>
      <p:sp>
        <p:nvSpPr>
          <p:cNvPr id="17" name="Text 12"/>
          <p:cNvSpPr/>
          <p:nvPr/>
        </p:nvSpPr>
        <p:spPr>
          <a:xfrm>
            <a:off x="7505849" y="3667125"/>
            <a:ext cx="67062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SHAP</a:t>
            </a:r>
            <a:endParaRPr lang="en-US" sz="1950" dirty="0"/>
          </a:p>
        </p:txBody>
      </p:sp>
      <p:sp>
        <p:nvSpPr>
          <p:cNvPr id="18" name="Shape 13"/>
          <p:cNvSpPr/>
          <p:nvPr/>
        </p:nvSpPr>
        <p:spPr>
          <a:xfrm>
            <a:off x="8414593" y="3562350"/>
            <a:ext cx="956370" cy="542925"/>
          </a:xfrm>
          <a:prstGeom prst="roundRect">
            <a:avLst>
              <a:gd name="adj" fmla="val 17544"/>
            </a:avLst>
          </a:prstGeom>
          <a:solidFill>
            <a:srgbClr val="FFFFFF"/>
          </a:solidFill>
          <a:ln w="9525">
            <a:solidFill>
              <a:srgbClr val="E2D7C7"/>
            </a:solidFill>
            <a:prstDash val="solid"/>
          </a:ln>
        </p:spPr>
      </p:sp>
      <p:sp>
        <p:nvSpPr>
          <p:cNvPr id="19" name="Text 14"/>
          <p:cNvSpPr/>
          <p:nvPr/>
        </p:nvSpPr>
        <p:spPr>
          <a:xfrm>
            <a:off x="8595568" y="3667125"/>
            <a:ext cx="67062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LIME</a:t>
            </a:r>
            <a:endParaRPr lang="en-US" sz="1950" dirty="0"/>
          </a:p>
        </p:txBody>
      </p:sp>
      <p:sp>
        <p:nvSpPr>
          <p:cNvPr id="20" name="Shape 15"/>
          <p:cNvSpPr/>
          <p:nvPr/>
        </p:nvSpPr>
        <p:spPr>
          <a:xfrm>
            <a:off x="9504313" y="3562350"/>
            <a:ext cx="1699320" cy="542925"/>
          </a:xfrm>
          <a:prstGeom prst="roundRect">
            <a:avLst>
              <a:gd name="adj" fmla="val 17544"/>
            </a:avLst>
          </a:prstGeom>
          <a:solidFill>
            <a:srgbClr val="FFFFFF"/>
          </a:solidFill>
          <a:ln w="9525">
            <a:solidFill>
              <a:srgbClr val="E2D7C7"/>
            </a:solidFill>
            <a:prstDash val="solid"/>
          </a:ln>
        </p:spPr>
      </p:sp>
      <p:sp>
        <p:nvSpPr>
          <p:cNvPr id="21" name="Text 16"/>
          <p:cNvSpPr/>
          <p:nvPr/>
        </p:nvSpPr>
        <p:spPr>
          <a:xfrm>
            <a:off x="9685288" y="3667125"/>
            <a:ext cx="141357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Streamlit</a:t>
            </a:r>
            <a:endParaRPr lang="en-US" sz="1950" dirty="0"/>
          </a:p>
        </p:txBody>
      </p:sp>
      <p:sp>
        <p:nvSpPr>
          <p:cNvPr id="22" name="Shape 17"/>
          <p:cNvSpPr/>
          <p:nvPr/>
        </p:nvSpPr>
        <p:spPr>
          <a:xfrm>
            <a:off x="11336982" y="3562350"/>
            <a:ext cx="1253579" cy="542925"/>
          </a:xfrm>
          <a:prstGeom prst="roundRect">
            <a:avLst>
              <a:gd name="adj" fmla="val 17544"/>
            </a:avLst>
          </a:prstGeom>
          <a:solidFill>
            <a:srgbClr val="FFFFFF"/>
          </a:solidFill>
          <a:ln w="9525">
            <a:solidFill>
              <a:srgbClr val="E2D7C7"/>
            </a:solidFill>
            <a:prstDash val="solid"/>
          </a:ln>
        </p:spPr>
      </p:sp>
      <p:sp>
        <p:nvSpPr>
          <p:cNvPr id="23" name="Text 18"/>
          <p:cNvSpPr/>
          <p:nvPr/>
        </p:nvSpPr>
        <p:spPr>
          <a:xfrm>
            <a:off x="11517957" y="3667125"/>
            <a:ext cx="967829"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joblib</a:t>
            </a:r>
            <a:endParaRPr lang="en-US" sz="1950" dirty="0"/>
          </a:p>
        </p:txBody>
      </p:sp>
      <p:sp>
        <p:nvSpPr>
          <p:cNvPr id="24" name="Shape 19"/>
          <p:cNvSpPr/>
          <p:nvPr/>
        </p:nvSpPr>
        <p:spPr>
          <a:xfrm>
            <a:off x="12723912" y="3562350"/>
            <a:ext cx="1253579" cy="542925"/>
          </a:xfrm>
          <a:prstGeom prst="roundRect">
            <a:avLst>
              <a:gd name="adj" fmla="val 17544"/>
            </a:avLst>
          </a:prstGeom>
          <a:solidFill>
            <a:srgbClr val="FFFFFF"/>
          </a:solidFill>
          <a:ln w="9525">
            <a:solidFill>
              <a:srgbClr val="E2D7C7"/>
            </a:solidFill>
            <a:prstDash val="solid"/>
          </a:ln>
        </p:spPr>
      </p:sp>
      <p:sp>
        <p:nvSpPr>
          <p:cNvPr id="25" name="Text 20"/>
          <p:cNvSpPr/>
          <p:nvPr/>
        </p:nvSpPr>
        <p:spPr>
          <a:xfrm>
            <a:off x="12904887" y="3667125"/>
            <a:ext cx="967829"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pandas</a:t>
            </a:r>
            <a:endParaRPr lang="en-US" sz="1950" dirty="0"/>
          </a:p>
        </p:txBody>
      </p:sp>
      <p:sp>
        <p:nvSpPr>
          <p:cNvPr id="26" name="Shape 21"/>
          <p:cNvSpPr/>
          <p:nvPr/>
        </p:nvSpPr>
        <p:spPr>
          <a:xfrm>
            <a:off x="14110841" y="3562350"/>
            <a:ext cx="1105049" cy="542925"/>
          </a:xfrm>
          <a:prstGeom prst="roundRect">
            <a:avLst>
              <a:gd name="adj" fmla="val 17544"/>
            </a:avLst>
          </a:prstGeom>
          <a:solidFill>
            <a:srgbClr val="FFFFFF"/>
          </a:solidFill>
          <a:ln w="9525">
            <a:solidFill>
              <a:srgbClr val="E2D7C7"/>
            </a:solidFill>
            <a:prstDash val="solid"/>
          </a:ln>
        </p:spPr>
      </p:sp>
      <p:sp>
        <p:nvSpPr>
          <p:cNvPr id="27" name="Text 22"/>
          <p:cNvSpPr/>
          <p:nvPr/>
        </p:nvSpPr>
        <p:spPr>
          <a:xfrm>
            <a:off x="14291816" y="3667125"/>
            <a:ext cx="819299"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numpy</a:t>
            </a:r>
            <a:endParaRPr lang="en-US" sz="1950" dirty="0"/>
          </a:p>
        </p:txBody>
      </p:sp>
      <p:sp>
        <p:nvSpPr>
          <p:cNvPr id="28" name="Shape 23"/>
          <p:cNvSpPr/>
          <p:nvPr/>
        </p:nvSpPr>
        <p:spPr>
          <a:xfrm>
            <a:off x="1400175" y="4238625"/>
            <a:ext cx="1847999" cy="542925"/>
          </a:xfrm>
          <a:prstGeom prst="roundRect">
            <a:avLst>
              <a:gd name="adj" fmla="val 17544"/>
            </a:avLst>
          </a:prstGeom>
          <a:solidFill>
            <a:srgbClr val="FFFFFF"/>
          </a:solidFill>
          <a:ln w="9525">
            <a:solidFill>
              <a:srgbClr val="E2D7C7"/>
            </a:solidFill>
            <a:prstDash val="solid"/>
          </a:ln>
        </p:spPr>
      </p:sp>
      <p:sp>
        <p:nvSpPr>
          <p:cNvPr id="29" name="Text 24"/>
          <p:cNvSpPr/>
          <p:nvPr/>
        </p:nvSpPr>
        <p:spPr>
          <a:xfrm>
            <a:off x="1581150" y="4343400"/>
            <a:ext cx="1562249"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matplotlib</a:t>
            </a:r>
            <a:endParaRPr lang="en-US" sz="1950" dirty="0"/>
          </a:p>
        </p:txBody>
      </p:sp>
      <p:sp>
        <p:nvSpPr>
          <p:cNvPr id="30" name="Shape 25"/>
          <p:cNvSpPr/>
          <p:nvPr/>
        </p:nvSpPr>
        <p:spPr>
          <a:xfrm>
            <a:off x="3381524" y="4238625"/>
            <a:ext cx="1402110" cy="542925"/>
          </a:xfrm>
          <a:prstGeom prst="roundRect">
            <a:avLst>
              <a:gd name="adj" fmla="val 17544"/>
            </a:avLst>
          </a:prstGeom>
          <a:solidFill>
            <a:srgbClr val="FFFFFF"/>
          </a:solidFill>
          <a:ln w="9525">
            <a:solidFill>
              <a:srgbClr val="E2D7C7"/>
            </a:solidFill>
            <a:prstDash val="solid"/>
          </a:ln>
        </p:spPr>
      </p:sp>
      <p:sp>
        <p:nvSpPr>
          <p:cNvPr id="31" name="Text 26"/>
          <p:cNvSpPr/>
          <p:nvPr/>
        </p:nvSpPr>
        <p:spPr>
          <a:xfrm>
            <a:off x="3562499" y="4343400"/>
            <a:ext cx="1116360" cy="371475"/>
          </a:xfrm>
          <a:prstGeom prst="rect">
            <a:avLst/>
          </a:prstGeom>
          <a:noFill/>
          <a:ln/>
        </p:spPr>
        <p:txBody>
          <a:bodyPr wrap="square" lIns="25400" tIns="25400" rIns="25400" bIns="25400" rtlCol="0" anchor="t">
            <a:normAutofit/>
          </a:bodyPr>
          <a:lstStyle/>
          <a:p>
            <a:pPr algn="l" indent="0" marL="0">
              <a:buNone/>
            </a:pPr>
            <a:r>
              <a:rPr lang="en-US" sz="1950" dirty="0">
                <a:solidFill>
                  <a:srgbClr val="2A1A1B"/>
                </a:solidFill>
                <a:latin typeface="Courier New" pitchFamily="34" charset="0"/>
                <a:ea typeface="Courier New" pitchFamily="34" charset="-122"/>
                <a:cs typeface="Courier New" pitchFamily="34" charset="-120"/>
              </a:rPr>
              <a:t>seaborn</a:t>
            </a:r>
            <a:endParaRPr lang="en-US" sz="1950" dirty="0"/>
          </a:p>
        </p:txBody>
      </p:sp>
      <p:sp>
        <p:nvSpPr>
          <p:cNvPr id="32" name="Shape 27"/>
          <p:cNvSpPr/>
          <p:nvPr/>
        </p:nvSpPr>
        <p:spPr>
          <a:xfrm>
            <a:off x="1047750" y="5438775"/>
            <a:ext cx="5257800" cy="4086225"/>
          </a:xfrm>
          <a:prstGeom prst="roundRect">
            <a:avLst>
              <a:gd name="adj" fmla="val 3730"/>
            </a:avLst>
          </a:prstGeom>
          <a:solidFill>
            <a:srgbClr val="EDE4D6"/>
          </a:solidFill>
          <a:ln w="9525">
            <a:solidFill>
              <a:srgbClr val="E2D7C7"/>
            </a:solidFill>
            <a:prstDash val="solid"/>
          </a:ln>
        </p:spPr>
      </p:sp>
      <p:sp>
        <p:nvSpPr>
          <p:cNvPr id="33" name="Text 28"/>
          <p:cNvSpPr/>
          <p:nvPr/>
        </p:nvSpPr>
        <p:spPr>
          <a:xfrm>
            <a:off x="1343025" y="5695950"/>
            <a:ext cx="5133975" cy="3238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A8323E"/>
                </a:solidFill>
                <a:latin typeface="Courier New" pitchFamily="34" charset="0"/>
                <a:ea typeface="Courier New" pitchFamily="34" charset="-122"/>
                <a:cs typeface="Courier New" pitchFamily="34" charset="-120"/>
              </a:rPr>
              <a:t>ENVIRONMENT</a:t>
            </a:r>
            <a:endParaRPr lang="en-US" sz="1650" dirty="0"/>
          </a:p>
        </p:txBody>
      </p:sp>
      <p:sp>
        <p:nvSpPr>
          <p:cNvPr id="34" name="Text 29"/>
          <p:cNvSpPr/>
          <p:nvPr/>
        </p:nvSpPr>
        <p:spPr>
          <a:xfrm>
            <a:off x="1343025" y="6096000"/>
            <a:ext cx="4807268" cy="763488"/>
          </a:xfrm>
          <a:prstGeom prst="rect">
            <a:avLst/>
          </a:prstGeom>
          <a:noFill/>
          <a:ln/>
        </p:spPr>
        <p:txBody>
          <a:bodyPr wrap="square" lIns="25400" tIns="25400" rIns="25400" bIns="25400" rtlCol="0" anchor="t">
            <a:normAutofit/>
          </a:bodyPr>
          <a:lstStyle/>
          <a:p>
            <a:pPr algn="l" indent="0" marL="0">
              <a:lnSpc>
                <a:spcPct val="136000"/>
              </a:lnSpc>
              <a:buNone/>
            </a:pPr>
            <a:r>
              <a:rPr lang="en-US" sz="2100" dirty="0">
                <a:solidFill>
                  <a:srgbClr val="2A1A1B"/>
                </a:solidFill>
                <a:latin typeface="Arial" pitchFamily="34" charset="0"/>
                <a:ea typeface="Arial" pitchFamily="34" charset="-122"/>
                <a:cs typeface="Arial" pitchFamily="34" charset="-120"/>
              </a:rPr>
              <a:t>virtualenv (venv) for isolation · Jupyter for notebooks.</a:t>
            </a:r>
            <a:endParaRPr lang="en-US" sz="2100" dirty="0"/>
          </a:p>
        </p:txBody>
      </p:sp>
      <p:sp>
        <p:nvSpPr>
          <p:cNvPr id="35" name="Shape 30"/>
          <p:cNvSpPr/>
          <p:nvPr/>
        </p:nvSpPr>
        <p:spPr>
          <a:xfrm>
            <a:off x="6515100" y="5438775"/>
            <a:ext cx="5257800" cy="4086225"/>
          </a:xfrm>
          <a:prstGeom prst="roundRect">
            <a:avLst>
              <a:gd name="adj" fmla="val 3730"/>
            </a:avLst>
          </a:prstGeom>
          <a:solidFill>
            <a:srgbClr val="EDE4D6"/>
          </a:solidFill>
          <a:ln w="9525">
            <a:solidFill>
              <a:srgbClr val="E2D7C7"/>
            </a:solidFill>
            <a:prstDash val="solid"/>
          </a:ln>
        </p:spPr>
      </p:sp>
      <p:sp>
        <p:nvSpPr>
          <p:cNvPr id="36" name="Text 31"/>
          <p:cNvSpPr/>
          <p:nvPr/>
        </p:nvSpPr>
        <p:spPr>
          <a:xfrm>
            <a:off x="6810375" y="5695950"/>
            <a:ext cx="5133975" cy="3238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A8323E"/>
                </a:solidFill>
                <a:latin typeface="Courier New" pitchFamily="34" charset="0"/>
                <a:ea typeface="Courier New" pitchFamily="34" charset="-122"/>
                <a:cs typeface="Courier New" pitchFamily="34" charset="-120"/>
              </a:rPr>
              <a:t>HARDWARE</a:t>
            </a:r>
            <a:endParaRPr lang="en-US" sz="1650" dirty="0"/>
          </a:p>
        </p:txBody>
      </p:sp>
      <p:sp>
        <p:nvSpPr>
          <p:cNvPr id="37" name="Text 32"/>
          <p:cNvSpPr/>
          <p:nvPr/>
        </p:nvSpPr>
        <p:spPr>
          <a:xfrm>
            <a:off x="6810375" y="6096000"/>
            <a:ext cx="4807268" cy="773013"/>
          </a:xfrm>
          <a:prstGeom prst="rect">
            <a:avLst/>
          </a:prstGeom>
          <a:noFill/>
          <a:ln/>
        </p:spPr>
        <p:txBody>
          <a:bodyPr wrap="square" lIns="25400" tIns="25400" rIns="25400" bIns="25400" rtlCol="0" anchor="t">
            <a:normAutofit/>
          </a:bodyPr>
          <a:lstStyle/>
          <a:p>
            <a:pPr algn="l" indent="0" marL="0">
              <a:lnSpc>
                <a:spcPct val="136000"/>
              </a:lnSpc>
              <a:buNone/>
            </a:pPr>
            <a:r>
              <a:rPr lang="en-US" sz="2100" dirty="0">
                <a:solidFill>
                  <a:srgbClr val="2A1A1B"/>
                </a:solidFill>
                <a:latin typeface="Arial" pitchFamily="34" charset="0"/>
                <a:ea typeface="Arial" pitchFamily="34" charset="-122"/>
                <a:cs typeface="Arial" pitchFamily="34" charset="-120"/>
              </a:rPr>
              <a:t>Any modern laptop — dataset is small (534 rows), </a:t>
            </a:r>
            <a:pPr algn="l" indent="0" marL="0">
              <a:lnSpc>
                <a:spcPct val="136000"/>
              </a:lnSpc>
              <a:buNone/>
            </a:pPr>
            <a:r>
              <a:rPr lang="en-US" sz="2100" b="1" dirty="0">
                <a:solidFill>
                  <a:srgbClr val="2A1A1B"/>
                </a:solidFill>
                <a:latin typeface="Arial" pitchFamily="34" charset="0"/>
                <a:ea typeface="Arial" pitchFamily="34" charset="-122"/>
                <a:cs typeface="Arial" pitchFamily="34" charset="-120"/>
              </a:rPr>
              <a:t>no GPU needed</a:t>
            </a:r>
            <a:pPr algn="l" indent="0" marL="0">
              <a:lnSpc>
                <a:spcPct val="136000"/>
              </a:lnSpc>
              <a:buNone/>
            </a:pPr>
            <a:r>
              <a:rPr lang="en-US" sz="2100" dirty="0">
                <a:solidFill>
                  <a:srgbClr val="2A1A1B"/>
                </a:solidFill>
                <a:latin typeface="Arial" pitchFamily="34" charset="0"/>
                <a:ea typeface="Arial" pitchFamily="34" charset="-122"/>
                <a:cs typeface="Arial" pitchFamily="34" charset="-120"/>
              </a:rPr>
              <a:t>.</a:t>
            </a:r>
            <a:endParaRPr lang="en-US" sz="2100" dirty="0"/>
          </a:p>
        </p:txBody>
      </p:sp>
      <p:sp>
        <p:nvSpPr>
          <p:cNvPr id="38" name="Shape 33"/>
          <p:cNvSpPr/>
          <p:nvPr/>
        </p:nvSpPr>
        <p:spPr>
          <a:xfrm>
            <a:off x="11982450" y="5438775"/>
            <a:ext cx="5257800" cy="4086225"/>
          </a:xfrm>
          <a:prstGeom prst="roundRect">
            <a:avLst>
              <a:gd name="adj" fmla="val 3730"/>
            </a:avLst>
          </a:prstGeom>
          <a:solidFill>
            <a:srgbClr val="EDE4D6"/>
          </a:solidFill>
          <a:ln w="9525">
            <a:solidFill>
              <a:srgbClr val="E2D7C7"/>
            </a:solidFill>
            <a:prstDash val="solid"/>
          </a:ln>
        </p:spPr>
      </p:sp>
      <p:sp>
        <p:nvSpPr>
          <p:cNvPr id="39" name="Text 34"/>
          <p:cNvSpPr/>
          <p:nvPr/>
        </p:nvSpPr>
        <p:spPr>
          <a:xfrm>
            <a:off x="12277725" y="5695950"/>
            <a:ext cx="5133975" cy="323850"/>
          </a:xfrm>
          <a:prstGeom prst="rect">
            <a:avLst/>
          </a:prstGeom>
          <a:noFill/>
          <a:ln/>
        </p:spPr>
        <p:txBody>
          <a:bodyPr wrap="square" lIns="25400" tIns="25400" rIns="25400" bIns="25400" rtlCol="0" anchor="t">
            <a:normAutofit/>
          </a:bodyPr>
          <a:lstStyle/>
          <a:p>
            <a:pPr algn="l" indent="0" marL="0">
              <a:buNone/>
            </a:pPr>
            <a:r>
              <a:rPr lang="en-US" sz="1650" b="1" spc="132" kern="0" dirty="0">
                <a:solidFill>
                  <a:srgbClr val="A8323E"/>
                </a:solidFill>
                <a:latin typeface="Courier New" pitchFamily="34" charset="0"/>
                <a:ea typeface="Courier New" pitchFamily="34" charset="-122"/>
                <a:cs typeface="Courier New" pitchFamily="34" charset="-120"/>
              </a:rPr>
              <a:t>FUNCTIONAL</a:t>
            </a:r>
            <a:endParaRPr lang="en-US" sz="1650" dirty="0"/>
          </a:p>
        </p:txBody>
      </p:sp>
      <p:sp>
        <p:nvSpPr>
          <p:cNvPr id="40" name="Text 35"/>
          <p:cNvSpPr/>
          <p:nvPr/>
        </p:nvSpPr>
        <p:spPr>
          <a:xfrm>
            <a:off x="12277725" y="6096000"/>
            <a:ext cx="4807268" cy="763488"/>
          </a:xfrm>
          <a:prstGeom prst="rect">
            <a:avLst/>
          </a:prstGeom>
          <a:noFill/>
          <a:ln/>
        </p:spPr>
        <p:txBody>
          <a:bodyPr wrap="square" lIns="25400" tIns="25400" rIns="25400" bIns="25400" rtlCol="0" anchor="t">
            <a:normAutofit/>
          </a:bodyPr>
          <a:lstStyle/>
          <a:p>
            <a:pPr algn="l" indent="0" marL="0">
              <a:lnSpc>
                <a:spcPct val="136000"/>
              </a:lnSpc>
              <a:buNone/>
            </a:pPr>
            <a:r>
              <a:rPr lang="en-US" sz="2100" dirty="0">
                <a:solidFill>
                  <a:srgbClr val="2A1A1B"/>
                </a:solidFill>
                <a:latin typeface="Arial" pitchFamily="34" charset="0"/>
                <a:ea typeface="Arial" pitchFamily="34" charset="-122"/>
                <a:cs typeface="Arial" pitchFamily="34" charset="-120"/>
              </a:rPr>
              <a:t>Enter CBC values → prediction + confidence + SHAP/LIME reason.</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04938"/>
            <a:ext cx="209550" cy="209550"/>
          </a:xfrm>
          <a:prstGeom prst="rect">
            <a:avLst/>
          </a:prstGeom>
        </p:spPr>
      </p:pic>
      <p:sp>
        <p:nvSpPr>
          <p:cNvPr id="3" name="Text 0"/>
          <p:cNvSpPr/>
          <p:nvPr/>
        </p:nvSpPr>
        <p:spPr>
          <a:xfrm>
            <a:off x="1371600" y="135255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3335000" y="5429250"/>
            <a:ext cx="5143500" cy="5143500"/>
          </a:xfrm>
          <a:prstGeom prst="rect">
            <a:avLst/>
          </a:prstGeom>
        </p:spPr>
      </p:pic>
      <p:sp>
        <p:nvSpPr>
          <p:cNvPr id="5" name="Text 1"/>
          <p:cNvSpPr/>
          <p:nvPr/>
        </p:nvSpPr>
        <p:spPr>
          <a:xfrm>
            <a:off x="1047750" y="1838325"/>
            <a:ext cx="6255722"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System Architecture</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07</a:t>
            </a:r>
            <a:endParaRPr lang="en-US" sz="3600" dirty="0"/>
          </a:p>
        </p:txBody>
      </p:sp>
      <p:sp>
        <p:nvSpPr>
          <p:cNvPr id="8" name="Shape 3"/>
          <p:cNvSpPr/>
          <p:nvPr/>
        </p:nvSpPr>
        <p:spPr>
          <a:xfrm>
            <a:off x="1047750" y="2790825"/>
            <a:ext cx="3624263" cy="5452170"/>
          </a:xfrm>
          <a:prstGeom prst="roundRect">
            <a:avLst>
              <a:gd name="adj" fmla="val 4205"/>
            </a:avLst>
          </a:prstGeom>
          <a:solidFill>
            <a:srgbClr val="EDE4D6"/>
          </a:solidFill>
          <a:ln w="9525">
            <a:solidFill>
              <a:srgbClr val="E2D7C7"/>
            </a:solidFill>
            <a:prstDash val="solid"/>
          </a:ln>
        </p:spPr>
      </p:sp>
      <p:sp>
        <p:nvSpPr>
          <p:cNvPr id="9" name="Text 4"/>
          <p:cNvSpPr/>
          <p:nvPr/>
        </p:nvSpPr>
        <p:spPr>
          <a:xfrm>
            <a:off x="1304925" y="3086100"/>
            <a:ext cx="3420904"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A8323E"/>
                </a:solidFill>
                <a:latin typeface="Courier New" pitchFamily="34" charset="0"/>
                <a:ea typeface="Courier New" pitchFamily="34" charset="-122"/>
                <a:cs typeface="Courier New" pitchFamily="34" charset="-120"/>
              </a:rPr>
              <a:t>01 · DATA</a:t>
            </a:r>
            <a:endParaRPr lang="en-US" sz="1650" dirty="0"/>
          </a:p>
        </p:txBody>
      </p:sp>
      <p:sp>
        <p:nvSpPr>
          <p:cNvPr id="10" name="Text 5"/>
          <p:cNvSpPr/>
          <p:nvPr/>
        </p:nvSpPr>
        <p:spPr>
          <a:xfrm>
            <a:off x="1304925" y="3524250"/>
            <a:ext cx="3420904"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2A1A1B"/>
                </a:solidFill>
                <a:latin typeface="Arial" pitchFamily="34" charset="0"/>
                <a:ea typeface="Arial" pitchFamily="34" charset="-122"/>
                <a:cs typeface="Arial" pitchFamily="34" charset="-120"/>
              </a:rPr>
              <a:t>Data layer</a:t>
            </a:r>
            <a:endParaRPr lang="en-US" sz="2250" dirty="0"/>
          </a:p>
        </p:txBody>
      </p:sp>
      <p:sp>
        <p:nvSpPr>
          <p:cNvPr id="11" name="Text 6"/>
          <p:cNvSpPr/>
          <p:nvPr/>
        </p:nvSpPr>
        <p:spPr>
          <a:xfrm>
            <a:off x="1304925" y="3990975"/>
            <a:ext cx="3203210"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83726C"/>
                </a:solidFill>
                <a:latin typeface="Arial" pitchFamily="34" charset="0"/>
                <a:ea typeface="Arial" pitchFamily="34" charset="-122"/>
                <a:cs typeface="Arial" pitchFamily="34" charset="-120"/>
              </a:rPr>
              <a:t>Raw CBC CSV → cleaning / de-duplication → stratified split → scaling.</a:t>
            </a:r>
            <a:endParaRPr lang="en-US" sz="1950" dirty="0"/>
          </a:p>
        </p:txBody>
      </p:sp>
      <p:sp>
        <p:nvSpPr>
          <p:cNvPr id="12" name="Text 7"/>
          <p:cNvSpPr/>
          <p:nvPr/>
        </p:nvSpPr>
        <p:spPr>
          <a:xfrm>
            <a:off x="4710112" y="2790825"/>
            <a:ext cx="495300" cy="5490270"/>
          </a:xfrm>
          <a:prstGeom prst="rect">
            <a:avLst/>
          </a:prstGeom>
          <a:noFill/>
          <a:ln/>
        </p:spPr>
        <p:txBody>
          <a:bodyPr wrap="square" lIns="25400" tIns="25400" rIns="25400" bIns="25400" rtlCol="0" anchor="ctr">
            <a:normAutofit/>
          </a:bodyPr>
          <a:lstStyle/>
          <a:p>
            <a:pPr algn="ctr" indent="0" marL="0">
              <a:buNone/>
            </a:pPr>
            <a:r>
              <a:rPr lang="en-US" sz="3300" b="1" dirty="0">
                <a:solidFill>
                  <a:srgbClr val="7C1D2A"/>
                </a:solidFill>
                <a:latin typeface="Arial" pitchFamily="34" charset="0"/>
                <a:ea typeface="Arial" pitchFamily="34" charset="-122"/>
                <a:cs typeface="Arial" pitchFamily="34" charset="-120"/>
              </a:rPr>
              <a:t>›</a:t>
            </a:r>
            <a:endParaRPr lang="en-US" sz="3300" dirty="0"/>
          </a:p>
        </p:txBody>
      </p:sp>
      <p:sp>
        <p:nvSpPr>
          <p:cNvPr id="13" name="Shape 8"/>
          <p:cNvSpPr/>
          <p:nvPr/>
        </p:nvSpPr>
        <p:spPr>
          <a:xfrm>
            <a:off x="5243513" y="2790825"/>
            <a:ext cx="3624263" cy="5452170"/>
          </a:xfrm>
          <a:prstGeom prst="roundRect">
            <a:avLst>
              <a:gd name="adj" fmla="val 4205"/>
            </a:avLst>
          </a:prstGeom>
          <a:solidFill>
            <a:srgbClr val="EDE4D6"/>
          </a:solidFill>
          <a:ln w="9525">
            <a:solidFill>
              <a:srgbClr val="E2D7C7"/>
            </a:solidFill>
            <a:prstDash val="solid"/>
          </a:ln>
        </p:spPr>
      </p:sp>
      <p:sp>
        <p:nvSpPr>
          <p:cNvPr id="14" name="Text 9"/>
          <p:cNvSpPr/>
          <p:nvPr/>
        </p:nvSpPr>
        <p:spPr>
          <a:xfrm>
            <a:off x="5500688" y="3086100"/>
            <a:ext cx="3420904"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A8323E"/>
                </a:solidFill>
                <a:latin typeface="Courier New" pitchFamily="34" charset="0"/>
                <a:ea typeface="Courier New" pitchFamily="34" charset="-122"/>
                <a:cs typeface="Courier New" pitchFamily="34" charset="-120"/>
              </a:rPr>
              <a:t>02 · MODEL</a:t>
            </a:r>
            <a:endParaRPr lang="en-US" sz="1650" dirty="0"/>
          </a:p>
        </p:txBody>
      </p:sp>
      <p:sp>
        <p:nvSpPr>
          <p:cNvPr id="15" name="Text 10"/>
          <p:cNvSpPr/>
          <p:nvPr/>
        </p:nvSpPr>
        <p:spPr>
          <a:xfrm>
            <a:off x="5500688" y="3524250"/>
            <a:ext cx="3420904"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2A1A1B"/>
                </a:solidFill>
                <a:latin typeface="Arial" pitchFamily="34" charset="0"/>
                <a:ea typeface="Arial" pitchFamily="34" charset="-122"/>
                <a:cs typeface="Arial" pitchFamily="34" charset="-120"/>
              </a:rPr>
              <a:t>Model layer</a:t>
            </a:r>
            <a:endParaRPr lang="en-US" sz="2250" dirty="0"/>
          </a:p>
        </p:txBody>
      </p:sp>
      <p:sp>
        <p:nvSpPr>
          <p:cNvPr id="16" name="Text 11"/>
          <p:cNvSpPr/>
          <p:nvPr/>
        </p:nvSpPr>
        <p:spPr>
          <a:xfrm>
            <a:off x="5500688" y="3990975"/>
            <a:ext cx="3203210"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83726C"/>
                </a:solidFill>
                <a:latin typeface="Arial" pitchFamily="34" charset="0"/>
                <a:ea typeface="Arial" pitchFamily="34" charset="-122"/>
                <a:cs typeface="Arial" pitchFamily="34" charset="-120"/>
              </a:rPr>
              <a:t>Three trained classifiers — RF · SVM · XGBoost — saved as </a:t>
            </a:r>
            <a:pPr algn="l" indent="0" marL="0">
              <a:lnSpc>
                <a:spcPct val="134000"/>
              </a:lnSpc>
              <a:buNone/>
            </a:pPr>
            <a:r>
              <a:rPr lang="en-US" sz="1725" dirty="0">
                <a:solidFill>
                  <a:srgbClr val="2A1A1B"/>
                </a:solidFill>
                <a:latin typeface="Courier New" pitchFamily="34" charset="0"/>
                <a:ea typeface="Courier New" pitchFamily="34" charset="-122"/>
                <a:cs typeface="Courier New" pitchFamily="34" charset="-120"/>
              </a:rPr>
              <a:t>.pkl</a:t>
            </a:r>
            <a:pPr algn="l" indent="0" marL="0">
              <a:lnSpc>
                <a:spcPct val="134000"/>
              </a:lnSpc>
              <a:buNone/>
            </a:pPr>
            <a:r>
              <a:rPr lang="en-US" sz="1950" dirty="0">
                <a:solidFill>
                  <a:srgbClr val="83726C"/>
                </a:solidFill>
                <a:latin typeface="Arial" pitchFamily="34" charset="0"/>
                <a:ea typeface="Arial" pitchFamily="34" charset="-122"/>
                <a:cs typeface="Arial" pitchFamily="34" charset="-120"/>
              </a:rPr>
              <a:t>.</a:t>
            </a:r>
            <a:endParaRPr lang="en-US" sz="1950" dirty="0"/>
          </a:p>
        </p:txBody>
      </p:sp>
      <p:sp>
        <p:nvSpPr>
          <p:cNvPr id="17" name="Text 12"/>
          <p:cNvSpPr/>
          <p:nvPr/>
        </p:nvSpPr>
        <p:spPr>
          <a:xfrm>
            <a:off x="8905875" y="2790825"/>
            <a:ext cx="495300" cy="5490270"/>
          </a:xfrm>
          <a:prstGeom prst="rect">
            <a:avLst/>
          </a:prstGeom>
          <a:noFill/>
          <a:ln/>
        </p:spPr>
        <p:txBody>
          <a:bodyPr wrap="square" lIns="25400" tIns="25400" rIns="25400" bIns="25400" rtlCol="0" anchor="ctr">
            <a:normAutofit/>
          </a:bodyPr>
          <a:lstStyle/>
          <a:p>
            <a:pPr algn="ctr" indent="0" marL="0">
              <a:buNone/>
            </a:pPr>
            <a:r>
              <a:rPr lang="en-US" sz="3300" b="1" dirty="0">
                <a:solidFill>
                  <a:srgbClr val="7C1D2A"/>
                </a:solidFill>
                <a:latin typeface="Arial" pitchFamily="34" charset="0"/>
                <a:ea typeface="Arial" pitchFamily="34" charset="-122"/>
                <a:cs typeface="Arial" pitchFamily="34" charset="-120"/>
              </a:rPr>
              <a:t>›</a:t>
            </a:r>
            <a:endParaRPr lang="en-US" sz="3300" dirty="0"/>
          </a:p>
        </p:txBody>
      </p:sp>
      <p:sp>
        <p:nvSpPr>
          <p:cNvPr id="18" name="Shape 13"/>
          <p:cNvSpPr/>
          <p:nvPr/>
        </p:nvSpPr>
        <p:spPr>
          <a:xfrm>
            <a:off x="9439275" y="2790825"/>
            <a:ext cx="3624263" cy="5452170"/>
          </a:xfrm>
          <a:prstGeom prst="roundRect">
            <a:avLst>
              <a:gd name="adj" fmla="val 4205"/>
            </a:avLst>
          </a:prstGeom>
          <a:solidFill>
            <a:srgbClr val="EDE4D6"/>
          </a:solidFill>
          <a:ln w="9525">
            <a:solidFill>
              <a:srgbClr val="E2D7C7"/>
            </a:solidFill>
            <a:prstDash val="solid"/>
          </a:ln>
        </p:spPr>
      </p:sp>
      <p:sp>
        <p:nvSpPr>
          <p:cNvPr id="19" name="Text 14"/>
          <p:cNvSpPr/>
          <p:nvPr/>
        </p:nvSpPr>
        <p:spPr>
          <a:xfrm>
            <a:off x="9696450" y="3086100"/>
            <a:ext cx="3420904"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A8323E"/>
                </a:solidFill>
                <a:latin typeface="Courier New" pitchFamily="34" charset="0"/>
                <a:ea typeface="Courier New" pitchFamily="34" charset="-122"/>
                <a:cs typeface="Courier New" pitchFamily="34" charset="-120"/>
              </a:rPr>
              <a:t>03 · XAI</a:t>
            </a:r>
            <a:endParaRPr lang="en-US" sz="1650" dirty="0"/>
          </a:p>
        </p:txBody>
      </p:sp>
      <p:sp>
        <p:nvSpPr>
          <p:cNvPr id="20" name="Text 15"/>
          <p:cNvSpPr/>
          <p:nvPr/>
        </p:nvSpPr>
        <p:spPr>
          <a:xfrm>
            <a:off x="9696450" y="3524250"/>
            <a:ext cx="3420904"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2A1A1B"/>
                </a:solidFill>
                <a:latin typeface="Arial" pitchFamily="34" charset="0"/>
                <a:ea typeface="Arial" pitchFamily="34" charset="-122"/>
                <a:cs typeface="Arial" pitchFamily="34" charset="-120"/>
              </a:rPr>
              <a:t>Explainability</a:t>
            </a:r>
            <a:endParaRPr lang="en-US" sz="2250" dirty="0"/>
          </a:p>
        </p:txBody>
      </p:sp>
      <p:sp>
        <p:nvSpPr>
          <p:cNvPr id="21" name="Text 16"/>
          <p:cNvSpPr/>
          <p:nvPr/>
        </p:nvSpPr>
        <p:spPr>
          <a:xfrm>
            <a:off x="9696450" y="3990975"/>
            <a:ext cx="3203210" cy="701576"/>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83726C"/>
                </a:solidFill>
                <a:latin typeface="Arial" pitchFamily="34" charset="0"/>
                <a:ea typeface="Arial" pitchFamily="34" charset="-122"/>
                <a:cs typeface="Arial" pitchFamily="34" charset="-120"/>
              </a:rPr>
              <a:t>SHAP + LIME compute per-feature attributions.</a:t>
            </a:r>
            <a:endParaRPr lang="en-US" sz="1950" dirty="0"/>
          </a:p>
        </p:txBody>
      </p:sp>
      <p:sp>
        <p:nvSpPr>
          <p:cNvPr id="22" name="Text 17"/>
          <p:cNvSpPr/>
          <p:nvPr/>
        </p:nvSpPr>
        <p:spPr>
          <a:xfrm>
            <a:off x="13101638" y="2790825"/>
            <a:ext cx="495300" cy="5490270"/>
          </a:xfrm>
          <a:prstGeom prst="rect">
            <a:avLst/>
          </a:prstGeom>
          <a:noFill/>
          <a:ln/>
        </p:spPr>
        <p:txBody>
          <a:bodyPr wrap="square" lIns="25400" tIns="25400" rIns="25400" bIns="25400" rtlCol="0" anchor="ctr">
            <a:normAutofit/>
          </a:bodyPr>
          <a:lstStyle/>
          <a:p>
            <a:pPr algn="ctr" indent="0" marL="0">
              <a:buNone/>
            </a:pPr>
            <a:r>
              <a:rPr lang="en-US" sz="3300" b="1" dirty="0">
                <a:solidFill>
                  <a:srgbClr val="7C1D2A"/>
                </a:solidFill>
                <a:latin typeface="Arial" pitchFamily="34" charset="0"/>
                <a:ea typeface="Arial" pitchFamily="34" charset="-122"/>
                <a:cs typeface="Arial" pitchFamily="34" charset="-120"/>
              </a:rPr>
              <a:t>›</a:t>
            </a:r>
            <a:endParaRPr lang="en-US" sz="3300" dirty="0"/>
          </a:p>
        </p:txBody>
      </p:sp>
      <p:sp>
        <p:nvSpPr>
          <p:cNvPr id="23" name="Shape 18"/>
          <p:cNvSpPr/>
          <p:nvPr/>
        </p:nvSpPr>
        <p:spPr>
          <a:xfrm>
            <a:off x="13635038" y="2790825"/>
            <a:ext cx="3605213" cy="5452170"/>
          </a:xfrm>
          <a:prstGeom prst="roundRect">
            <a:avLst>
              <a:gd name="adj" fmla="val 4227"/>
            </a:avLst>
          </a:prstGeom>
          <a:solidFill>
            <a:srgbClr val="7C1D2A"/>
          </a:solidFill>
          <a:ln/>
        </p:spPr>
      </p:sp>
      <p:sp>
        <p:nvSpPr>
          <p:cNvPr id="24" name="Text 19"/>
          <p:cNvSpPr/>
          <p:nvPr/>
        </p:nvSpPr>
        <p:spPr>
          <a:xfrm>
            <a:off x="13882688" y="3076575"/>
            <a:ext cx="3420904" cy="323850"/>
          </a:xfrm>
          <a:prstGeom prst="rect">
            <a:avLst/>
          </a:prstGeom>
          <a:noFill/>
          <a:ln/>
        </p:spPr>
        <p:txBody>
          <a:bodyPr wrap="square" lIns="25400" tIns="25400" rIns="25400" bIns="25400" rtlCol="0" anchor="t">
            <a:normAutofit/>
          </a:bodyPr>
          <a:lstStyle/>
          <a:p>
            <a:pPr algn="l" indent="0" marL="0">
              <a:buNone/>
            </a:pPr>
            <a:r>
              <a:rPr lang="en-US" sz="1650" b="1" dirty="0">
                <a:solidFill>
                  <a:srgbClr val="E6B7B0"/>
                </a:solidFill>
                <a:latin typeface="Courier New" pitchFamily="34" charset="0"/>
                <a:ea typeface="Courier New" pitchFamily="34" charset="-122"/>
                <a:cs typeface="Courier New" pitchFamily="34" charset="-120"/>
              </a:rPr>
              <a:t>04 · UI</a:t>
            </a:r>
            <a:endParaRPr lang="en-US" sz="1650" dirty="0"/>
          </a:p>
        </p:txBody>
      </p:sp>
      <p:sp>
        <p:nvSpPr>
          <p:cNvPr id="25" name="Text 20"/>
          <p:cNvSpPr/>
          <p:nvPr/>
        </p:nvSpPr>
        <p:spPr>
          <a:xfrm>
            <a:off x="13882688" y="3514725"/>
            <a:ext cx="3420904"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b="1" dirty="0">
                <a:solidFill>
                  <a:srgbClr val="F7F1E9"/>
                </a:solidFill>
                <a:latin typeface="Arial" pitchFamily="34" charset="0"/>
                <a:ea typeface="Arial" pitchFamily="34" charset="-122"/>
                <a:cs typeface="Arial" pitchFamily="34" charset="-120"/>
              </a:rPr>
              <a:t>Presentation</a:t>
            </a:r>
            <a:endParaRPr lang="en-US" sz="2250" dirty="0"/>
          </a:p>
        </p:txBody>
      </p:sp>
      <p:sp>
        <p:nvSpPr>
          <p:cNvPr id="26" name="Text 21"/>
          <p:cNvSpPr/>
          <p:nvPr/>
        </p:nvSpPr>
        <p:spPr>
          <a:xfrm>
            <a:off x="13882688" y="3981450"/>
            <a:ext cx="3203210" cy="1033314"/>
          </a:xfrm>
          <a:prstGeom prst="rect">
            <a:avLst/>
          </a:prstGeom>
          <a:noFill/>
          <a:ln/>
        </p:spPr>
        <p:txBody>
          <a:bodyPr wrap="square" lIns="25400" tIns="25400" rIns="25400" bIns="25400" rtlCol="0" anchor="t">
            <a:normAutofit/>
          </a:bodyPr>
          <a:lstStyle/>
          <a:p>
            <a:pPr algn="l" indent="0" marL="0">
              <a:lnSpc>
                <a:spcPct val="134000"/>
              </a:lnSpc>
              <a:buNone/>
            </a:pPr>
            <a:r>
              <a:rPr lang="en-US" sz="1950" dirty="0">
                <a:solidFill>
                  <a:srgbClr val="F0DAD6"/>
                </a:solidFill>
                <a:latin typeface="Arial" pitchFamily="34" charset="0"/>
                <a:ea typeface="Arial" pitchFamily="34" charset="-122"/>
                <a:cs typeface="Arial" pitchFamily="34" charset="-120"/>
              </a:rPr>
              <a:t>Streamlit app — input form → prediction → explanation.</a:t>
            </a:r>
            <a:endParaRPr lang="en-US" sz="1950" dirty="0"/>
          </a:p>
        </p:txBody>
      </p:sp>
      <p:sp>
        <p:nvSpPr>
          <p:cNvPr id="27" name="Shape 22"/>
          <p:cNvSpPr/>
          <p:nvPr/>
        </p:nvSpPr>
        <p:spPr>
          <a:xfrm>
            <a:off x="1047750" y="8623995"/>
            <a:ext cx="16192500" cy="901005"/>
          </a:xfrm>
          <a:prstGeom prst="roundRect">
            <a:avLst>
              <a:gd name="adj" fmla="val 16914"/>
            </a:avLst>
          </a:prstGeom>
          <a:solidFill>
            <a:srgbClr val="EFDCD8"/>
          </a:solidFill>
          <a:ln w="9525">
            <a:solidFill>
              <a:srgbClr val="E3C9C4"/>
            </a:solidFill>
            <a:prstDash val="solid"/>
          </a:ln>
        </p:spPr>
      </p:sp>
      <p:sp>
        <p:nvSpPr>
          <p:cNvPr id="28" name="Text 23"/>
          <p:cNvSpPr/>
          <p:nvPr/>
        </p:nvSpPr>
        <p:spPr>
          <a:xfrm>
            <a:off x="1381125" y="8881170"/>
            <a:ext cx="16011525" cy="424755"/>
          </a:xfrm>
          <a:prstGeom prst="rect">
            <a:avLst/>
          </a:prstGeom>
          <a:noFill/>
          <a:ln/>
        </p:spPr>
        <p:txBody>
          <a:bodyPr wrap="square" lIns="25400" tIns="25400" rIns="25400" bIns="25400" rtlCol="0" anchor="t">
            <a:normAutofit/>
          </a:bodyPr>
          <a:lstStyle/>
          <a:p>
            <a:pPr algn="l" indent="0" marL="0">
              <a:lnSpc>
                <a:spcPct val="140000"/>
              </a:lnSpc>
              <a:buNone/>
            </a:pPr>
            <a:r>
              <a:rPr lang="en-US" sz="2175" dirty="0">
                <a:solidFill>
                  <a:srgbClr val="2A1A1B"/>
                </a:solidFill>
                <a:highlight>
                  <a:srgbClr val="EFDCD8"/>
                </a:highlight>
                <a:latin typeface="Arial" pitchFamily="34" charset="0"/>
                <a:ea typeface="Arial" pitchFamily="34" charset="-122"/>
                <a:cs typeface="Arial" pitchFamily="34" charset="-120"/>
              </a:rPr>
              <a:t>All reusable logic lives in </a:t>
            </a:r>
            <a:pPr algn="l" indent="0" marL="0">
              <a:lnSpc>
                <a:spcPct val="140000"/>
              </a:lnSpc>
              <a:buNone/>
            </a:pPr>
            <a:r>
              <a:rPr lang="en-US" sz="1950" b="1" dirty="0">
                <a:solidFill>
                  <a:srgbClr val="7C1D2A"/>
                </a:solidFill>
                <a:latin typeface="Courier New" pitchFamily="34" charset="0"/>
                <a:ea typeface="Courier New" pitchFamily="34" charset="-122"/>
                <a:cs typeface="Courier New" pitchFamily="34" charset="-120"/>
              </a:rPr>
              <a:t>src/ </a:t>
            </a:r>
            <a:pPr algn="l" indent="0" marL="0">
              <a:lnSpc>
                <a:spcPct val="140000"/>
              </a:lnSpc>
              <a:buNone/>
            </a:pPr>
            <a:r>
              <a:rPr lang="en-US" sz="2175" dirty="0">
                <a:solidFill>
                  <a:srgbClr val="2A1A1B"/>
                </a:solidFill>
                <a:highlight>
                  <a:srgbClr val="EFDCD8"/>
                </a:highlight>
                <a:latin typeface="Arial" pitchFamily="34" charset="0"/>
                <a:ea typeface="Arial" pitchFamily="34" charset="-122"/>
                <a:cs typeface="Arial" pitchFamily="34" charset="-120"/>
              </a:rPr>
              <a:t>— notebooks and the app import from it, so the logic is written once and never diverges.</a:t>
            </a:r>
            <a:endParaRPr lang="en-US" sz="21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909638"/>
            <a:ext cx="209550" cy="209550"/>
          </a:xfrm>
          <a:prstGeom prst="rect">
            <a:avLst/>
          </a:prstGeom>
        </p:spPr>
      </p:pic>
      <p:sp>
        <p:nvSpPr>
          <p:cNvPr id="3" name="Text 0"/>
          <p:cNvSpPr/>
          <p:nvPr/>
        </p:nvSpPr>
        <p:spPr>
          <a:xfrm>
            <a:off x="1371600" y="85725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3239750" y="5429250"/>
            <a:ext cx="5143500" cy="5143500"/>
          </a:xfrm>
          <a:prstGeom prst="rect">
            <a:avLst/>
          </a:prstGeom>
        </p:spPr>
      </p:pic>
      <p:sp>
        <p:nvSpPr>
          <p:cNvPr id="5" name="Text 1"/>
          <p:cNvSpPr/>
          <p:nvPr/>
        </p:nvSpPr>
        <p:spPr>
          <a:xfrm>
            <a:off x="1047750" y="1343025"/>
            <a:ext cx="40913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Methodology</a:t>
            </a:r>
            <a:endParaRPr lang="en-US" sz="4500" dirty="0"/>
          </a:p>
        </p:txBody>
      </p:sp>
      <p:sp>
        <p:nvSpPr>
          <p:cNvPr id="6" name="Text 2"/>
          <p:cNvSpPr/>
          <p:nvPr/>
        </p:nvSpPr>
        <p:spPr>
          <a:xfrm>
            <a:off x="16691521" y="12954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08</a:t>
            </a:r>
            <a:endParaRPr lang="en-US" sz="3600" dirty="0"/>
          </a:p>
        </p:txBody>
      </p:sp>
      <p:sp>
        <p:nvSpPr>
          <p:cNvPr id="7" name="Shape 3"/>
          <p:cNvSpPr/>
          <p:nvPr/>
        </p:nvSpPr>
        <p:spPr>
          <a:xfrm>
            <a:off x="1047750" y="2238375"/>
            <a:ext cx="5257800" cy="3543300"/>
          </a:xfrm>
          <a:prstGeom prst="roundRect">
            <a:avLst>
              <a:gd name="adj" fmla="val 4301"/>
            </a:avLst>
          </a:prstGeom>
          <a:solidFill>
            <a:srgbClr val="EDE4D6"/>
          </a:solidFill>
          <a:ln w="9525">
            <a:solidFill>
              <a:srgbClr val="E2D7C7"/>
            </a:solidFill>
            <a:prstDash val="solid"/>
          </a:ln>
        </p:spPr>
      </p:sp>
      <p:sp>
        <p:nvSpPr>
          <p:cNvPr id="8" name="Text 4"/>
          <p:cNvSpPr/>
          <p:nvPr/>
        </p:nvSpPr>
        <p:spPr>
          <a:xfrm>
            <a:off x="1323975" y="2495550"/>
            <a:ext cx="24765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A8323E"/>
                </a:solidFill>
                <a:latin typeface="Courier New" pitchFamily="34" charset="0"/>
                <a:ea typeface="Courier New" pitchFamily="34" charset="-122"/>
                <a:cs typeface="Courier New" pitchFamily="34" charset="-120"/>
              </a:rPr>
              <a:t>1</a:t>
            </a:r>
            <a:endParaRPr lang="en-US" sz="2250" dirty="0"/>
          </a:p>
        </p:txBody>
      </p:sp>
      <p:sp>
        <p:nvSpPr>
          <p:cNvPr id="9" name="Text 5"/>
          <p:cNvSpPr/>
          <p:nvPr/>
        </p:nvSpPr>
        <p:spPr>
          <a:xfrm>
            <a:off x="1609725" y="2495550"/>
            <a:ext cx="87243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2A1A1B"/>
                </a:solidFill>
                <a:latin typeface="Arial" pitchFamily="34" charset="0"/>
                <a:ea typeface="Arial" pitchFamily="34" charset="-122"/>
                <a:cs typeface="Arial" pitchFamily="34" charset="-120"/>
              </a:rPr>
              <a:t>Clean</a:t>
            </a:r>
            <a:endParaRPr lang="en-US" sz="2250" dirty="0"/>
          </a:p>
        </p:txBody>
      </p:sp>
      <p:sp>
        <p:nvSpPr>
          <p:cNvPr id="10" name="Text 6"/>
          <p:cNvSpPr/>
          <p:nvPr/>
        </p:nvSpPr>
        <p:spPr>
          <a:xfrm>
            <a:off x="1323975" y="3000375"/>
            <a:ext cx="4846511" cy="727174"/>
          </a:xfrm>
          <a:prstGeom prst="rect">
            <a:avLst/>
          </a:prstGeom>
          <a:noFill/>
          <a:ln/>
        </p:spPr>
        <p:txBody>
          <a:bodyPr wrap="square" lIns="25400" tIns="25400" rIns="25400" bIns="25400" rtlCol="0" anchor="t">
            <a:normAutofit/>
          </a:bodyPr>
          <a:lstStyle/>
          <a:p>
            <a:pPr algn="l" indent="0" marL="0">
              <a:lnSpc>
                <a:spcPct val="134000"/>
              </a:lnSpc>
              <a:buNone/>
            </a:pPr>
            <a:r>
              <a:rPr lang="en-US" sz="1800" b="1" dirty="0">
                <a:solidFill>
                  <a:srgbClr val="7C1D2A"/>
                </a:solidFill>
                <a:latin typeface="Courier New" pitchFamily="34" charset="0"/>
                <a:ea typeface="Courier New" pitchFamily="34" charset="-122"/>
                <a:cs typeface="Courier New" pitchFamily="34" charset="-120"/>
              </a:rPr>
              <a:t>1,421 → 534 </a:t>
            </a:r>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unique rows; dropped 887 duplicate patients.</a:t>
            </a:r>
            <a:endParaRPr lang="en-US" sz="2025" dirty="0"/>
          </a:p>
        </p:txBody>
      </p:sp>
      <p:sp>
        <p:nvSpPr>
          <p:cNvPr id="11" name="Shape 7"/>
          <p:cNvSpPr/>
          <p:nvPr/>
        </p:nvSpPr>
        <p:spPr>
          <a:xfrm>
            <a:off x="6515100" y="2238375"/>
            <a:ext cx="5257800" cy="3543300"/>
          </a:xfrm>
          <a:prstGeom prst="roundRect">
            <a:avLst>
              <a:gd name="adj" fmla="val 4301"/>
            </a:avLst>
          </a:prstGeom>
          <a:solidFill>
            <a:srgbClr val="EDE4D6"/>
          </a:solidFill>
          <a:ln w="9525">
            <a:solidFill>
              <a:srgbClr val="E2D7C7"/>
            </a:solidFill>
            <a:prstDash val="solid"/>
          </a:ln>
        </p:spPr>
      </p:sp>
      <p:sp>
        <p:nvSpPr>
          <p:cNvPr id="12" name="Text 8"/>
          <p:cNvSpPr/>
          <p:nvPr/>
        </p:nvSpPr>
        <p:spPr>
          <a:xfrm>
            <a:off x="6791325" y="2495550"/>
            <a:ext cx="24765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A8323E"/>
                </a:solidFill>
                <a:latin typeface="Courier New" pitchFamily="34" charset="0"/>
                <a:ea typeface="Courier New" pitchFamily="34" charset="-122"/>
                <a:cs typeface="Courier New" pitchFamily="34" charset="-120"/>
              </a:rPr>
              <a:t>2</a:t>
            </a:r>
            <a:endParaRPr lang="en-US" sz="2250" dirty="0"/>
          </a:p>
        </p:txBody>
      </p:sp>
      <p:sp>
        <p:nvSpPr>
          <p:cNvPr id="13" name="Text 9"/>
          <p:cNvSpPr/>
          <p:nvPr/>
        </p:nvSpPr>
        <p:spPr>
          <a:xfrm>
            <a:off x="7077075" y="2495550"/>
            <a:ext cx="708868"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2A1A1B"/>
                </a:solidFill>
                <a:latin typeface="Arial" pitchFamily="34" charset="0"/>
                <a:ea typeface="Arial" pitchFamily="34" charset="-122"/>
                <a:cs typeface="Arial" pitchFamily="34" charset="-120"/>
              </a:rPr>
              <a:t>Split</a:t>
            </a:r>
            <a:endParaRPr lang="en-US" sz="2250" dirty="0"/>
          </a:p>
        </p:txBody>
      </p:sp>
      <p:sp>
        <p:nvSpPr>
          <p:cNvPr id="14" name="Text 10"/>
          <p:cNvSpPr/>
          <p:nvPr/>
        </p:nvSpPr>
        <p:spPr>
          <a:xfrm>
            <a:off x="6791325" y="3000375"/>
            <a:ext cx="4846511" cy="727174"/>
          </a:xfrm>
          <a:prstGeom prst="rect">
            <a:avLst/>
          </a:prstGeom>
          <a:noFill/>
          <a:ln/>
        </p:spPr>
        <p:txBody>
          <a:bodyPr wrap="square" lIns="25400" tIns="25400" rIns="25400" bIns="25400" rtlCol="0" anchor="t">
            <a:normAutofit/>
          </a:bodyPr>
          <a:lstStyle/>
          <a:p>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Stratified 80/20 → </a:t>
            </a:r>
            <a:pPr algn="l" indent="0" marL="0">
              <a:lnSpc>
                <a:spcPct val="134000"/>
              </a:lnSpc>
              <a:buNone/>
            </a:pPr>
            <a:r>
              <a:rPr lang="en-US" sz="1800" b="1" dirty="0">
                <a:solidFill>
                  <a:srgbClr val="7C1D2A"/>
                </a:solidFill>
                <a:latin typeface="Courier New" pitchFamily="34" charset="0"/>
                <a:ea typeface="Courier New" pitchFamily="34" charset="-122"/>
                <a:cs typeface="Courier New" pitchFamily="34" charset="-120"/>
              </a:rPr>
              <a:t>427 / 107 </a:t>
            </a:r>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 keeps 53.7% / 46.3% balance.</a:t>
            </a:r>
            <a:endParaRPr lang="en-US" sz="2025" dirty="0"/>
          </a:p>
        </p:txBody>
      </p:sp>
      <p:sp>
        <p:nvSpPr>
          <p:cNvPr id="15" name="Shape 11"/>
          <p:cNvSpPr/>
          <p:nvPr/>
        </p:nvSpPr>
        <p:spPr>
          <a:xfrm>
            <a:off x="11982450" y="2238375"/>
            <a:ext cx="5257800" cy="3543300"/>
          </a:xfrm>
          <a:prstGeom prst="roundRect">
            <a:avLst>
              <a:gd name="adj" fmla="val 4301"/>
            </a:avLst>
          </a:prstGeom>
          <a:solidFill>
            <a:srgbClr val="EDE4D6"/>
          </a:solidFill>
          <a:ln w="9525">
            <a:solidFill>
              <a:srgbClr val="E2D7C7"/>
            </a:solidFill>
            <a:prstDash val="solid"/>
          </a:ln>
        </p:spPr>
      </p:sp>
      <p:sp>
        <p:nvSpPr>
          <p:cNvPr id="16" name="Text 12"/>
          <p:cNvSpPr/>
          <p:nvPr/>
        </p:nvSpPr>
        <p:spPr>
          <a:xfrm>
            <a:off x="12258675" y="2495550"/>
            <a:ext cx="24765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A8323E"/>
                </a:solidFill>
                <a:latin typeface="Courier New" pitchFamily="34" charset="0"/>
                <a:ea typeface="Courier New" pitchFamily="34" charset="-122"/>
                <a:cs typeface="Courier New" pitchFamily="34" charset="-120"/>
              </a:rPr>
              <a:t>3</a:t>
            </a:r>
            <a:endParaRPr lang="en-US" sz="2250" dirty="0"/>
          </a:p>
        </p:txBody>
      </p:sp>
      <p:sp>
        <p:nvSpPr>
          <p:cNvPr id="17" name="Text 13"/>
          <p:cNvSpPr/>
          <p:nvPr/>
        </p:nvSpPr>
        <p:spPr>
          <a:xfrm>
            <a:off x="12544425" y="2495550"/>
            <a:ext cx="808137"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2A1A1B"/>
                </a:solidFill>
                <a:latin typeface="Arial" pitchFamily="34" charset="0"/>
                <a:ea typeface="Arial" pitchFamily="34" charset="-122"/>
                <a:cs typeface="Arial" pitchFamily="34" charset="-120"/>
              </a:rPr>
              <a:t>Scale</a:t>
            </a:r>
            <a:endParaRPr lang="en-US" sz="2250" dirty="0"/>
          </a:p>
        </p:txBody>
      </p:sp>
      <p:sp>
        <p:nvSpPr>
          <p:cNvPr id="18" name="Text 14"/>
          <p:cNvSpPr/>
          <p:nvPr/>
        </p:nvSpPr>
        <p:spPr>
          <a:xfrm>
            <a:off x="12258675" y="3000375"/>
            <a:ext cx="4846511" cy="736699"/>
          </a:xfrm>
          <a:prstGeom prst="rect">
            <a:avLst/>
          </a:prstGeom>
          <a:noFill/>
          <a:ln/>
        </p:spPr>
        <p:txBody>
          <a:bodyPr wrap="square" lIns="25400" tIns="25400" rIns="25400" bIns="25400" rtlCol="0" anchor="t">
            <a:normAutofit/>
          </a:bodyPr>
          <a:lstStyle/>
          <a:p>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StandardScaler fit on </a:t>
            </a:r>
            <a:pPr algn="l" indent="0" marL="0">
              <a:lnSpc>
                <a:spcPct val="134000"/>
              </a:lnSpc>
              <a:buNone/>
            </a:pPr>
            <a:r>
              <a:rPr lang="en-US" sz="2025" b="1" dirty="0">
                <a:solidFill>
                  <a:srgbClr val="2A1A1B"/>
                </a:solidFill>
                <a:latin typeface="Arial" pitchFamily="34" charset="0"/>
                <a:ea typeface="Arial" pitchFamily="34" charset="-122"/>
                <a:cs typeface="Arial" pitchFamily="34" charset="-120"/>
              </a:rPr>
              <a:t>train only </a:t>
            </a:r>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 SVM needs a comparable scale.</a:t>
            </a:r>
            <a:endParaRPr lang="en-US" sz="2025" dirty="0"/>
          </a:p>
        </p:txBody>
      </p:sp>
      <p:sp>
        <p:nvSpPr>
          <p:cNvPr id="19" name="Shape 15"/>
          <p:cNvSpPr/>
          <p:nvPr/>
        </p:nvSpPr>
        <p:spPr>
          <a:xfrm>
            <a:off x="1047750" y="5991225"/>
            <a:ext cx="5257800" cy="3533775"/>
          </a:xfrm>
          <a:prstGeom prst="roundRect">
            <a:avLst>
              <a:gd name="adj" fmla="val 4313"/>
            </a:avLst>
          </a:prstGeom>
          <a:solidFill>
            <a:srgbClr val="EDE4D6"/>
          </a:solidFill>
          <a:ln w="9525">
            <a:solidFill>
              <a:srgbClr val="E2D7C7"/>
            </a:solidFill>
            <a:prstDash val="solid"/>
          </a:ln>
        </p:spPr>
      </p:sp>
      <p:sp>
        <p:nvSpPr>
          <p:cNvPr id="20" name="Text 16"/>
          <p:cNvSpPr/>
          <p:nvPr/>
        </p:nvSpPr>
        <p:spPr>
          <a:xfrm>
            <a:off x="1323975" y="6248400"/>
            <a:ext cx="24765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A8323E"/>
                </a:solidFill>
                <a:latin typeface="Courier New" pitchFamily="34" charset="0"/>
                <a:ea typeface="Courier New" pitchFamily="34" charset="-122"/>
                <a:cs typeface="Courier New" pitchFamily="34" charset="-120"/>
              </a:rPr>
              <a:t>4</a:t>
            </a:r>
            <a:endParaRPr lang="en-US" sz="2250" dirty="0"/>
          </a:p>
        </p:txBody>
      </p:sp>
      <p:sp>
        <p:nvSpPr>
          <p:cNvPr id="21" name="Text 17"/>
          <p:cNvSpPr/>
          <p:nvPr/>
        </p:nvSpPr>
        <p:spPr>
          <a:xfrm>
            <a:off x="1609725" y="6248400"/>
            <a:ext cx="79117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2A1A1B"/>
                </a:solidFill>
                <a:latin typeface="Arial" pitchFamily="34" charset="0"/>
                <a:ea typeface="Arial" pitchFamily="34" charset="-122"/>
                <a:cs typeface="Arial" pitchFamily="34" charset="-120"/>
              </a:rPr>
              <a:t>Train</a:t>
            </a:r>
            <a:endParaRPr lang="en-US" sz="2250" dirty="0"/>
          </a:p>
        </p:txBody>
      </p:sp>
      <p:sp>
        <p:nvSpPr>
          <p:cNvPr id="22" name="Text 18"/>
          <p:cNvSpPr/>
          <p:nvPr/>
        </p:nvSpPr>
        <p:spPr>
          <a:xfrm>
            <a:off x="1323975" y="6753225"/>
            <a:ext cx="4846511" cy="727174"/>
          </a:xfrm>
          <a:prstGeom prst="rect">
            <a:avLst/>
          </a:prstGeom>
          <a:noFill/>
          <a:ln/>
        </p:spPr>
        <p:txBody>
          <a:bodyPr wrap="square" lIns="25400" tIns="25400" rIns="25400" bIns="25400" rtlCol="0" anchor="t">
            <a:normAutofit/>
          </a:bodyPr>
          <a:lstStyle/>
          <a:p>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Same split for all three; reproducible at </a:t>
            </a:r>
            <a:pPr algn="l" indent="0" marL="0">
              <a:lnSpc>
                <a:spcPct val="134000"/>
              </a:lnSpc>
              <a:buNone/>
            </a:pPr>
            <a:r>
              <a:rPr lang="en-US" sz="1800" b="1" dirty="0">
                <a:solidFill>
                  <a:srgbClr val="7C1D2A"/>
                </a:solidFill>
                <a:latin typeface="Courier New" pitchFamily="34" charset="0"/>
                <a:ea typeface="Courier New" pitchFamily="34" charset="-122"/>
                <a:cs typeface="Courier New" pitchFamily="34" charset="-120"/>
              </a:rPr>
              <a:t>random_state = 42</a:t>
            </a:r>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a:t>
            </a:r>
            <a:endParaRPr lang="en-US" sz="2025" dirty="0"/>
          </a:p>
        </p:txBody>
      </p:sp>
      <p:sp>
        <p:nvSpPr>
          <p:cNvPr id="23" name="Shape 19"/>
          <p:cNvSpPr/>
          <p:nvPr/>
        </p:nvSpPr>
        <p:spPr>
          <a:xfrm>
            <a:off x="6515100" y="5991225"/>
            <a:ext cx="5257800" cy="3533775"/>
          </a:xfrm>
          <a:prstGeom prst="roundRect">
            <a:avLst>
              <a:gd name="adj" fmla="val 4313"/>
            </a:avLst>
          </a:prstGeom>
          <a:solidFill>
            <a:srgbClr val="EDE4D6"/>
          </a:solidFill>
          <a:ln w="9525">
            <a:solidFill>
              <a:srgbClr val="E2D7C7"/>
            </a:solidFill>
            <a:prstDash val="solid"/>
          </a:ln>
        </p:spPr>
      </p:sp>
      <p:sp>
        <p:nvSpPr>
          <p:cNvPr id="24" name="Text 20"/>
          <p:cNvSpPr/>
          <p:nvPr/>
        </p:nvSpPr>
        <p:spPr>
          <a:xfrm>
            <a:off x="6791325" y="6248400"/>
            <a:ext cx="24765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A8323E"/>
                </a:solidFill>
                <a:latin typeface="Courier New" pitchFamily="34" charset="0"/>
                <a:ea typeface="Courier New" pitchFamily="34" charset="-122"/>
                <a:cs typeface="Courier New" pitchFamily="34" charset="-120"/>
              </a:rPr>
              <a:t>5</a:t>
            </a:r>
            <a:endParaRPr lang="en-US" sz="2250" dirty="0"/>
          </a:p>
        </p:txBody>
      </p:sp>
      <p:sp>
        <p:nvSpPr>
          <p:cNvPr id="25" name="Text 21"/>
          <p:cNvSpPr/>
          <p:nvPr/>
        </p:nvSpPr>
        <p:spPr>
          <a:xfrm>
            <a:off x="7077075" y="6248400"/>
            <a:ext cx="1354217"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2A1A1B"/>
                </a:solidFill>
                <a:latin typeface="Arial" pitchFamily="34" charset="0"/>
                <a:ea typeface="Arial" pitchFamily="34" charset="-122"/>
                <a:cs typeface="Arial" pitchFamily="34" charset="-120"/>
              </a:rPr>
              <a:t>Evaluate</a:t>
            </a:r>
            <a:endParaRPr lang="en-US" sz="2250" dirty="0"/>
          </a:p>
        </p:txBody>
      </p:sp>
      <p:sp>
        <p:nvSpPr>
          <p:cNvPr id="26" name="Text 22"/>
          <p:cNvSpPr/>
          <p:nvPr/>
        </p:nvSpPr>
        <p:spPr>
          <a:xfrm>
            <a:off x="6791325" y="6753225"/>
            <a:ext cx="4846511" cy="727174"/>
          </a:xfrm>
          <a:prstGeom prst="rect">
            <a:avLst/>
          </a:prstGeom>
          <a:noFill/>
          <a:ln/>
        </p:spPr>
        <p:txBody>
          <a:bodyPr wrap="square" lIns="25400" tIns="25400" rIns="25400" bIns="25400" rtlCol="0" anchor="t">
            <a:normAutofit/>
          </a:bodyPr>
          <a:lstStyle/>
          <a:p>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Accuracy, precision, recall, F1, AUC-ROC + confusion matrix + ROC.</a:t>
            </a:r>
            <a:endParaRPr lang="en-US" sz="2025" dirty="0"/>
          </a:p>
        </p:txBody>
      </p:sp>
      <p:sp>
        <p:nvSpPr>
          <p:cNvPr id="27" name="Shape 23"/>
          <p:cNvSpPr/>
          <p:nvPr/>
        </p:nvSpPr>
        <p:spPr>
          <a:xfrm>
            <a:off x="11982450" y="5991225"/>
            <a:ext cx="5257800" cy="3533775"/>
          </a:xfrm>
          <a:prstGeom prst="roundRect">
            <a:avLst>
              <a:gd name="adj" fmla="val 4313"/>
            </a:avLst>
          </a:prstGeom>
          <a:solidFill>
            <a:srgbClr val="EDE4D6"/>
          </a:solidFill>
          <a:ln w="9525">
            <a:solidFill>
              <a:srgbClr val="E2D7C7"/>
            </a:solidFill>
            <a:prstDash val="solid"/>
          </a:ln>
        </p:spPr>
      </p:sp>
      <p:sp>
        <p:nvSpPr>
          <p:cNvPr id="28" name="Text 24"/>
          <p:cNvSpPr/>
          <p:nvPr/>
        </p:nvSpPr>
        <p:spPr>
          <a:xfrm>
            <a:off x="12258675" y="6248400"/>
            <a:ext cx="247650"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A8323E"/>
                </a:solidFill>
                <a:latin typeface="Courier New" pitchFamily="34" charset="0"/>
                <a:ea typeface="Courier New" pitchFamily="34" charset="-122"/>
                <a:cs typeface="Courier New" pitchFamily="34" charset="-120"/>
              </a:rPr>
              <a:t>6</a:t>
            </a:r>
            <a:endParaRPr lang="en-US" sz="2250" dirty="0"/>
          </a:p>
        </p:txBody>
      </p:sp>
      <p:sp>
        <p:nvSpPr>
          <p:cNvPr id="29" name="Text 25"/>
          <p:cNvSpPr/>
          <p:nvPr/>
        </p:nvSpPr>
        <p:spPr>
          <a:xfrm>
            <a:off x="12544425" y="6248400"/>
            <a:ext cx="110951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2A1A1B"/>
                </a:solidFill>
                <a:latin typeface="Arial" pitchFamily="34" charset="0"/>
                <a:ea typeface="Arial" pitchFamily="34" charset="-122"/>
                <a:cs typeface="Arial" pitchFamily="34" charset="-120"/>
              </a:rPr>
              <a:t>Explain</a:t>
            </a:r>
            <a:endParaRPr lang="en-US" sz="2250" dirty="0"/>
          </a:p>
        </p:txBody>
      </p:sp>
      <p:sp>
        <p:nvSpPr>
          <p:cNvPr id="30" name="Text 26"/>
          <p:cNvSpPr/>
          <p:nvPr/>
        </p:nvSpPr>
        <p:spPr>
          <a:xfrm>
            <a:off x="12258675" y="6753225"/>
            <a:ext cx="4846511" cy="727174"/>
          </a:xfrm>
          <a:prstGeom prst="rect">
            <a:avLst/>
          </a:prstGeom>
          <a:noFill/>
          <a:ln/>
        </p:spPr>
        <p:txBody>
          <a:bodyPr wrap="square" lIns="25400" tIns="25400" rIns="25400" bIns="25400" rtlCol="0" anchor="t">
            <a:normAutofit/>
          </a:bodyPr>
          <a:lstStyle/>
          <a:p>
            <a:pPr algn="l" indent="0" marL="0">
              <a:lnSpc>
                <a:spcPct val="134000"/>
              </a:lnSpc>
              <a:buNone/>
            </a:pPr>
            <a:r>
              <a:rPr lang="en-US" sz="2025" dirty="0">
                <a:solidFill>
                  <a:srgbClr val="2A1A1B"/>
                </a:solidFill>
                <a:latin typeface="Arial" pitchFamily="34" charset="0"/>
                <a:ea typeface="Arial" pitchFamily="34" charset="-122"/>
                <a:cs typeface="Arial" pitchFamily="34" charset="-120"/>
              </a:rPr>
              <a:t>SHAP global (beeswarm / bar) + local (waterfall), and one LIME example.</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EE4"/>
        </a:solidFill>
      </p:bgPr>
    </p:bg>
    <p:spTree>
      <p:nvGrpSpPr>
        <p:cNvPr id="1" name=""/>
        <p:cNvGrpSpPr/>
        <p:nvPr/>
      </p:nvGrpSpPr>
      <p:grpSpPr>
        <a:xfrm>
          <a:off x="0" y="0"/>
          <a:ext cx="0" cy="0"/>
          <a:chOff x="0" y="0"/>
          <a:chExt cx="0" cy="0"/>
        </a:xfrm>
      </p:grpSpPr>
      <p:sp>
        <p:nvSpPr>
          <p:cNvPr id="2" name="Text 0"/>
          <p:cNvSpPr/>
          <p:nvPr/>
        </p:nvSpPr>
        <p:spPr>
          <a:xfrm>
            <a:off x="1047750" y="857250"/>
            <a:ext cx="11525250" cy="352425"/>
          </a:xfrm>
          <a:prstGeom prst="rect">
            <a:avLst/>
          </a:prstGeom>
          <a:noFill/>
          <a:ln/>
        </p:spPr>
        <p:txBody>
          <a:bodyPr wrap="square" lIns="25400" tIns="25400" rIns="25400" bIns="25400" rtlCol="0" anchor="ctr">
            <a:normAutofit/>
          </a:bodyPr>
          <a:lstStyle/>
          <a:p>
            <a:pPr algn="l" indent="0" marL="0">
              <a:buNone/>
            </a:pPr>
            <a:r>
              <a:rPr lang="en-US" sz="1800" b="1" spc="216" kern="0" dirty="0">
                <a:solidFill>
                  <a:srgbClr val="A8323E"/>
                </a:solidFill>
                <a:latin typeface="Courier New" pitchFamily="34" charset="0"/>
                <a:ea typeface="Courier New" pitchFamily="34" charset="-122"/>
                <a:cs typeface="Courier New" pitchFamily="34" charset="-120"/>
              </a:rPr>
              <a:t>▣ INSERT FIGURE</a:t>
            </a:r>
            <a:endParaRPr lang="en-US" sz="1800" dirty="0"/>
          </a:p>
        </p:txBody>
      </p:sp>
      <p:sp>
        <p:nvSpPr>
          <p:cNvPr id="3" name="Text 1"/>
          <p:cNvSpPr/>
          <p:nvPr/>
        </p:nvSpPr>
        <p:spPr>
          <a:xfrm>
            <a:off x="1047750" y="1323975"/>
            <a:ext cx="1152525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2A1A1B"/>
                </a:solidFill>
                <a:latin typeface="Arial" pitchFamily="34" charset="0"/>
                <a:ea typeface="Arial" pitchFamily="34" charset="-122"/>
                <a:cs typeface="Arial" pitchFamily="34" charset="-120"/>
              </a:rPr>
              <a:t>Figure — Label Leakage</a:t>
            </a:r>
            <a:endParaRPr lang="en-US" sz="4200" dirty="0"/>
          </a:p>
        </p:txBody>
      </p:sp>
      <p:sp>
        <p:nvSpPr>
          <p:cNvPr id="4" name="Text 2"/>
          <p:cNvSpPr/>
          <p:nvPr/>
        </p:nvSpPr>
        <p:spPr>
          <a:xfrm>
            <a:off x="1047750" y="2009775"/>
            <a:ext cx="10791825"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83726C"/>
                </a:solidFill>
                <a:latin typeface="Arial" pitchFamily="34" charset="0"/>
                <a:ea typeface="Arial" pitchFamily="34" charset="-122"/>
                <a:cs typeface="Arial" pitchFamily="34" charset="-120"/>
              </a:rPr>
              <a:t>The class label flips at a haemoglobin threshold — visual proof that the models re-learn that rule.</a:t>
            </a:r>
            <a:endParaRPr lang="en-US" sz="2250" dirty="0"/>
          </a:p>
        </p:txBody>
      </p:sp>
      <p:sp>
        <p:nvSpPr>
          <p:cNvPr id="5" name="Text 3"/>
          <p:cNvSpPr/>
          <p:nvPr/>
        </p:nvSpPr>
        <p:spPr>
          <a:xfrm>
            <a:off x="16142940" y="2162175"/>
            <a:ext cx="1173510"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08·F</a:t>
            </a:r>
            <a:endParaRPr lang="en-US" sz="3600" dirty="0"/>
          </a:p>
        </p:txBody>
      </p:sp>
      <p:sp>
        <p:nvSpPr>
          <p:cNvPr id="6" name="Shape 4"/>
          <p:cNvSpPr/>
          <p:nvPr/>
        </p:nvSpPr>
        <p:spPr>
          <a:xfrm>
            <a:off x="1047750" y="3067050"/>
            <a:ext cx="16192500" cy="6457950"/>
          </a:xfrm>
          <a:prstGeom prst="roundRect">
            <a:avLst>
              <a:gd name="adj" fmla="val 2950"/>
            </a:avLst>
          </a:prstGeom>
          <a:solidFill>
            <a:srgbClr val="ECE3D5"/>
          </a:solidFill>
          <a:ln w="28575">
            <a:solidFill>
              <a:srgbClr val="7C1D2A"/>
            </a:solidFill>
            <a:prstDash val="dash"/>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67775" y="4827389"/>
            <a:ext cx="552450" cy="552450"/>
          </a:xfrm>
          <a:prstGeom prst="rect">
            <a:avLst/>
          </a:prstGeom>
        </p:spPr>
      </p:pic>
      <p:sp>
        <p:nvSpPr>
          <p:cNvPr id="8" name="Shape 5"/>
          <p:cNvSpPr/>
          <p:nvPr/>
        </p:nvSpPr>
        <p:spPr>
          <a:xfrm>
            <a:off x="6657975" y="5589389"/>
            <a:ext cx="4972050" cy="676275"/>
          </a:xfrm>
          <a:prstGeom prst="roundRect">
            <a:avLst>
              <a:gd name="adj" fmla="val 16901"/>
            </a:avLst>
          </a:prstGeom>
          <a:solidFill>
            <a:srgbClr val="FFFFFF"/>
          </a:solidFill>
          <a:ln w="9525">
            <a:solidFill>
              <a:srgbClr val="E2D7C7"/>
            </a:solidFill>
            <a:prstDash val="solid"/>
          </a:ln>
        </p:spPr>
      </p:sp>
      <p:sp>
        <p:nvSpPr>
          <p:cNvPr id="9" name="Text 6"/>
          <p:cNvSpPr/>
          <p:nvPr/>
        </p:nvSpPr>
        <p:spPr>
          <a:xfrm>
            <a:off x="6915150" y="5732264"/>
            <a:ext cx="4606862"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7C1D2A"/>
                </a:solidFill>
                <a:latin typeface="Courier New" pitchFamily="34" charset="0"/>
                <a:ea typeface="Courier New" pitchFamily="34" charset="-122"/>
                <a:cs typeface="Courier New" pitchFamily="34" charset="-120"/>
              </a:rPr>
              <a:t>fig_leakage_hb_scatter.png</a:t>
            </a:r>
            <a:endParaRPr lang="en-US" sz="2250" dirty="0"/>
          </a:p>
        </p:txBody>
      </p:sp>
      <p:sp>
        <p:nvSpPr>
          <p:cNvPr id="10" name="Text 7"/>
          <p:cNvSpPr/>
          <p:nvPr/>
        </p:nvSpPr>
        <p:spPr>
          <a:xfrm>
            <a:off x="5415915" y="6475214"/>
            <a:ext cx="7456170" cy="784622"/>
          </a:xfrm>
          <a:prstGeom prst="rect">
            <a:avLst/>
          </a:prstGeom>
          <a:noFill/>
          <a:ln/>
        </p:spPr>
        <p:txBody>
          <a:bodyPr wrap="square" lIns="25400" tIns="25400" rIns="25400" bIns="25400" rtlCol="0" anchor="t">
            <a:normAutofit/>
          </a:bodyPr>
          <a:lstStyle/>
          <a:p>
            <a:pPr algn="ctr" indent="0" marL="0">
              <a:lnSpc>
                <a:spcPct val="140000"/>
              </a:lnSpc>
              <a:buNone/>
            </a:pPr>
            <a:r>
              <a:rPr lang="en-US" sz="2100" dirty="0">
                <a:solidFill>
                  <a:srgbClr val="83726C"/>
                </a:solidFill>
                <a:latin typeface="Arial" pitchFamily="34" charset="0"/>
                <a:ea typeface="Arial" pitchFamily="34" charset="-122"/>
                <a:cs typeface="Arial" pitchFamily="34" charset="-120"/>
              </a:rPr>
              <a:t>Paste your generated scatter here — Haemoglobin (x) vs the class label, showing the threshold split.</a:t>
            </a:r>
            <a:endParaRPr lang="en-US" sz="2100" dirty="0"/>
          </a:p>
        </p:txBody>
      </p:sp>
      <p:sp>
        <p:nvSpPr>
          <p:cNvPr id="11" name="Text 8"/>
          <p:cNvSpPr/>
          <p:nvPr/>
        </p:nvSpPr>
        <p:spPr>
          <a:xfrm>
            <a:off x="7641878" y="7431286"/>
            <a:ext cx="3304505" cy="371475"/>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A8323E"/>
                </a:solidFill>
                <a:latin typeface="Courier New" pitchFamily="34" charset="0"/>
                <a:ea typeface="Courier New" pitchFamily="34" charset="-122"/>
                <a:cs typeface="Courier New" pitchFamily="34" charset="-120"/>
              </a:rPr>
              <a:t>⬑ PASTE FIGURE HERE</a:t>
            </a:r>
            <a:endParaRPr lang="en-US" sz="17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23988"/>
            <a:ext cx="209550" cy="209550"/>
          </a:xfrm>
          <a:prstGeom prst="rect">
            <a:avLst/>
          </a:prstGeom>
        </p:spPr>
      </p:pic>
      <p:sp>
        <p:nvSpPr>
          <p:cNvPr id="3" name="Text 0"/>
          <p:cNvSpPr/>
          <p:nvPr/>
        </p:nvSpPr>
        <p:spPr>
          <a:xfrm>
            <a:off x="1371600" y="137160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3430250" y="5172075"/>
            <a:ext cx="4953000" cy="5400675"/>
          </a:xfrm>
          <a:prstGeom prst="rect">
            <a:avLst/>
          </a:prstGeom>
        </p:spPr>
      </p:pic>
      <p:sp>
        <p:nvSpPr>
          <p:cNvPr id="5" name="Text 1"/>
          <p:cNvSpPr/>
          <p:nvPr/>
        </p:nvSpPr>
        <p:spPr>
          <a:xfrm>
            <a:off x="1047750" y="1838325"/>
            <a:ext cx="806129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Implementation &amp; Results</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09</a:t>
            </a:r>
            <a:endParaRPr lang="en-US" sz="3600" dirty="0"/>
          </a:p>
        </p:txBody>
      </p:sp>
      <p:sp>
        <p:nvSpPr>
          <p:cNvPr id="8" name="Shape 3"/>
          <p:cNvSpPr/>
          <p:nvPr/>
        </p:nvSpPr>
        <p:spPr>
          <a:xfrm>
            <a:off x="1047750" y="2714625"/>
            <a:ext cx="7755136" cy="5436989"/>
          </a:xfrm>
          <a:prstGeom prst="roundRect">
            <a:avLst>
              <a:gd name="adj" fmla="val 3153"/>
            </a:avLst>
          </a:prstGeom>
          <a:solidFill>
            <a:srgbClr val="EDE4D6"/>
          </a:solidFill>
          <a:ln w="9525">
            <a:solidFill>
              <a:srgbClr val="E2D7C7"/>
            </a:solidFill>
            <a:prstDash val="solid"/>
          </a:ln>
        </p:spPr>
      </p:sp>
      <p:sp>
        <p:nvSpPr>
          <p:cNvPr id="9" name="Text 4"/>
          <p:cNvSpPr/>
          <p:nvPr/>
        </p:nvSpPr>
        <p:spPr>
          <a:xfrm>
            <a:off x="1381125" y="3009900"/>
            <a:ext cx="7797225"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7C1D2A"/>
                </a:solidFill>
                <a:latin typeface="Courier New" pitchFamily="34" charset="0"/>
                <a:ea typeface="Courier New" pitchFamily="34" charset="-122"/>
                <a:cs typeface="Courier New" pitchFamily="34" charset="-120"/>
              </a:rPr>
              <a:t>MODEL COMPARISON · FULL TRACK · F1</a:t>
            </a:r>
            <a:endParaRPr lang="en-US" sz="1725" dirty="0"/>
          </a:p>
        </p:txBody>
      </p:sp>
      <p:sp>
        <p:nvSpPr>
          <p:cNvPr id="10" name="Shape 5"/>
          <p:cNvSpPr/>
          <p:nvPr/>
        </p:nvSpPr>
        <p:spPr>
          <a:xfrm>
            <a:off x="1381125" y="4010025"/>
            <a:ext cx="7088386" cy="9525"/>
          </a:xfrm>
          <a:prstGeom prst="rect">
            <a:avLst/>
          </a:prstGeom>
          <a:solidFill>
            <a:srgbClr val="E2D7C7"/>
          </a:solidFill>
          <a:ln/>
        </p:spPr>
      </p:sp>
      <p:sp>
        <p:nvSpPr>
          <p:cNvPr id="11" name="Text 6"/>
          <p:cNvSpPr/>
          <p:nvPr/>
        </p:nvSpPr>
        <p:spPr>
          <a:xfrm>
            <a:off x="1381125" y="3500438"/>
            <a:ext cx="2203222" cy="419100"/>
          </a:xfrm>
          <a:prstGeom prst="rect">
            <a:avLst/>
          </a:prstGeom>
          <a:noFill/>
          <a:ln/>
        </p:spPr>
        <p:txBody>
          <a:bodyPr wrap="square" lIns="25400" tIns="25400" rIns="25400" bIns="25400" rtlCol="0" anchor="t">
            <a:normAutofit/>
          </a:bodyPr>
          <a:lstStyle/>
          <a:p>
            <a:pPr algn="l" indent="0" marL="0">
              <a:buNone/>
            </a:pPr>
            <a:r>
              <a:rPr lang="en-US" sz="2325" dirty="0">
                <a:solidFill>
                  <a:srgbClr val="2A1A1B"/>
                </a:solidFill>
                <a:latin typeface="Arial" pitchFamily="34" charset="0"/>
                <a:ea typeface="Arial" pitchFamily="34" charset="-122"/>
                <a:cs typeface="Arial" pitchFamily="34" charset="-120"/>
              </a:rPr>
              <a:t>Random Forest</a:t>
            </a:r>
            <a:endParaRPr lang="en-US" sz="2325" dirty="0"/>
          </a:p>
        </p:txBody>
      </p:sp>
      <p:sp>
        <p:nvSpPr>
          <p:cNvPr id="12" name="Text 7"/>
          <p:cNvSpPr/>
          <p:nvPr/>
        </p:nvSpPr>
        <p:spPr>
          <a:xfrm>
            <a:off x="7737872" y="3486150"/>
            <a:ext cx="807839" cy="447675"/>
          </a:xfrm>
          <a:prstGeom prst="rect">
            <a:avLst/>
          </a:prstGeom>
          <a:noFill/>
          <a:ln/>
        </p:spPr>
        <p:txBody>
          <a:bodyPr wrap="square" lIns="25400" tIns="25400" rIns="25400" bIns="25400" rtlCol="0" anchor="t">
            <a:normAutofit/>
          </a:bodyPr>
          <a:lstStyle/>
          <a:p>
            <a:pPr algn="l" indent="0" marL="0">
              <a:buNone/>
            </a:pPr>
            <a:r>
              <a:rPr lang="en-US" sz="2400" b="1" dirty="0">
                <a:solidFill>
                  <a:srgbClr val="2A1A1B"/>
                </a:solidFill>
                <a:latin typeface="Courier New" pitchFamily="34" charset="0"/>
                <a:ea typeface="Courier New" pitchFamily="34" charset="-122"/>
                <a:cs typeface="Courier New" pitchFamily="34" charset="-120"/>
              </a:rPr>
              <a:t>1.00</a:t>
            </a:r>
            <a:endParaRPr lang="en-US" sz="2400" dirty="0"/>
          </a:p>
        </p:txBody>
      </p:sp>
      <p:sp>
        <p:nvSpPr>
          <p:cNvPr id="13" name="Shape 8"/>
          <p:cNvSpPr/>
          <p:nvPr/>
        </p:nvSpPr>
        <p:spPr>
          <a:xfrm>
            <a:off x="1381125" y="4133850"/>
            <a:ext cx="7088386" cy="676275"/>
          </a:xfrm>
          <a:prstGeom prst="roundRect">
            <a:avLst>
              <a:gd name="adj" fmla="val 16901"/>
            </a:avLst>
          </a:prstGeom>
          <a:solidFill>
            <a:srgbClr val="7C1D2A"/>
          </a:solidFill>
          <a:ln/>
        </p:spPr>
      </p:sp>
      <p:sp>
        <p:nvSpPr>
          <p:cNvPr id="14" name="Text 9"/>
          <p:cNvSpPr/>
          <p:nvPr/>
        </p:nvSpPr>
        <p:spPr>
          <a:xfrm>
            <a:off x="1552575" y="4271963"/>
            <a:ext cx="2806497" cy="438150"/>
          </a:xfrm>
          <a:prstGeom prst="rect">
            <a:avLst/>
          </a:prstGeom>
          <a:noFill/>
          <a:ln/>
        </p:spPr>
        <p:txBody>
          <a:bodyPr wrap="square" lIns="25400" tIns="25400" rIns="25400" bIns="25400" rtlCol="0" anchor="t">
            <a:normAutofit/>
          </a:bodyPr>
          <a:lstStyle/>
          <a:p>
            <a:pPr algn="l" indent="0" marL="0">
              <a:buNone/>
            </a:pPr>
            <a:r>
              <a:rPr lang="en-US" sz="2325" b="1" dirty="0">
                <a:solidFill>
                  <a:srgbClr val="F7F1E9"/>
                </a:solidFill>
                <a:latin typeface="Arial" pitchFamily="34" charset="0"/>
                <a:ea typeface="Arial" pitchFamily="34" charset="-122"/>
                <a:cs typeface="Arial" pitchFamily="34" charset="-120"/>
              </a:rPr>
              <a:t>XGBoost </a:t>
            </a:r>
            <a:pPr algn="l" indent="0" marL="0">
              <a:buNone/>
            </a:pPr>
            <a:r>
              <a:rPr lang="en-US" sz="1575" b="1" dirty="0">
                <a:solidFill>
                  <a:srgbClr val="F7F1E9"/>
                </a:solidFill>
                <a:highlight>
                  <a:srgbClr val="FFFFFF"/>
                </a:highlight>
                <a:latin typeface="Courier New" pitchFamily="34" charset="0"/>
                <a:ea typeface="Courier New" pitchFamily="34" charset="-122"/>
                <a:cs typeface="Courier New" pitchFamily="34" charset="-120"/>
              </a:rPr>
              <a:t>SELECTED</a:t>
            </a:r>
            <a:endParaRPr lang="en-US" sz="2325" dirty="0"/>
          </a:p>
        </p:txBody>
      </p:sp>
      <p:sp>
        <p:nvSpPr>
          <p:cNvPr id="15" name="Text 10"/>
          <p:cNvSpPr/>
          <p:nvPr/>
        </p:nvSpPr>
        <p:spPr>
          <a:xfrm>
            <a:off x="7566422" y="4267200"/>
            <a:ext cx="807839" cy="447675"/>
          </a:xfrm>
          <a:prstGeom prst="rect">
            <a:avLst/>
          </a:prstGeom>
          <a:noFill/>
          <a:ln/>
        </p:spPr>
        <p:txBody>
          <a:bodyPr wrap="square" lIns="25400" tIns="25400" rIns="25400" bIns="25400" rtlCol="0" anchor="t">
            <a:normAutofit/>
          </a:bodyPr>
          <a:lstStyle/>
          <a:p>
            <a:pPr algn="l" indent="0" marL="0">
              <a:buNone/>
            </a:pPr>
            <a:r>
              <a:rPr lang="en-US" sz="2400" b="1" dirty="0">
                <a:solidFill>
                  <a:srgbClr val="F7F1E9"/>
                </a:solidFill>
                <a:latin typeface="Courier New" pitchFamily="34" charset="0"/>
                <a:ea typeface="Courier New" pitchFamily="34" charset="-122"/>
                <a:cs typeface="Courier New" pitchFamily="34" charset="-120"/>
              </a:rPr>
              <a:t>1.00</a:t>
            </a:r>
            <a:endParaRPr lang="en-US" sz="2400" dirty="0"/>
          </a:p>
        </p:txBody>
      </p:sp>
      <p:sp>
        <p:nvSpPr>
          <p:cNvPr id="16" name="Text 11"/>
          <p:cNvSpPr/>
          <p:nvPr/>
        </p:nvSpPr>
        <p:spPr>
          <a:xfrm>
            <a:off x="1381125" y="4957763"/>
            <a:ext cx="677466" cy="419100"/>
          </a:xfrm>
          <a:prstGeom prst="rect">
            <a:avLst/>
          </a:prstGeom>
          <a:noFill/>
          <a:ln/>
        </p:spPr>
        <p:txBody>
          <a:bodyPr wrap="square" lIns="25400" tIns="25400" rIns="25400" bIns="25400" rtlCol="0" anchor="t">
            <a:normAutofit/>
          </a:bodyPr>
          <a:lstStyle/>
          <a:p>
            <a:pPr algn="l" indent="0" marL="0">
              <a:buNone/>
            </a:pPr>
            <a:r>
              <a:rPr lang="en-US" sz="2325" dirty="0">
                <a:solidFill>
                  <a:srgbClr val="2A1A1B"/>
                </a:solidFill>
                <a:latin typeface="Arial" pitchFamily="34" charset="0"/>
                <a:ea typeface="Arial" pitchFamily="34" charset="-122"/>
                <a:cs typeface="Arial" pitchFamily="34" charset="-120"/>
              </a:rPr>
              <a:t>SVM</a:t>
            </a:r>
            <a:endParaRPr lang="en-US" sz="2325" dirty="0"/>
          </a:p>
        </p:txBody>
      </p:sp>
      <p:sp>
        <p:nvSpPr>
          <p:cNvPr id="17" name="Text 12"/>
          <p:cNvSpPr/>
          <p:nvPr/>
        </p:nvSpPr>
        <p:spPr>
          <a:xfrm>
            <a:off x="7737872" y="4943475"/>
            <a:ext cx="807839" cy="447675"/>
          </a:xfrm>
          <a:prstGeom prst="rect">
            <a:avLst/>
          </a:prstGeom>
          <a:noFill/>
          <a:ln/>
        </p:spPr>
        <p:txBody>
          <a:bodyPr wrap="square" lIns="25400" tIns="25400" rIns="25400" bIns="25400" rtlCol="0" anchor="t">
            <a:normAutofit/>
          </a:bodyPr>
          <a:lstStyle/>
          <a:p>
            <a:pPr algn="l" indent="0" marL="0">
              <a:buNone/>
            </a:pPr>
            <a:r>
              <a:rPr lang="en-US" sz="2400" b="1" dirty="0">
                <a:solidFill>
                  <a:srgbClr val="2A1A1B"/>
                </a:solidFill>
                <a:latin typeface="Courier New" pitchFamily="34" charset="0"/>
                <a:ea typeface="Courier New" pitchFamily="34" charset="-122"/>
                <a:cs typeface="Courier New" pitchFamily="34" charset="-120"/>
              </a:rPr>
              <a:t>0.96</a:t>
            </a:r>
            <a:endParaRPr lang="en-US" sz="2400" dirty="0"/>
          </a:p>
        </p:txBody>
      </p:sp>
      <p:sp>
        <p:nvSpPr>
          <p:cNvPr id="18" name="Text 13"/>
          <p:cNvSpPr/>
          <p:nvPr/>
        </p:nvSpPr>
        <p:spPr>
          <a:xfrm>
            <a:off x="1381125" y="7182743"/>
            <a:ext cx="7301038" cy="711696"/>
          </a:xfrm>
          <a:prstGeom prst="rect">
            <a:avLst/>
          </a:prstGeom>
          <a:noFill/>
          <a:ln/>
        </p:spPr>
        <p:txBody>
          <a:bodyPr wrap="square" lIns="25400" tIns="25400" rIns="25400" bIns="25400" rtlCol="0" anchor="t">
            <a:normAutofit/>
          </a:bodyPr>
          <a:lstStyle/>
          <a:p>
            <a:pPr algn="l" indent="0" marL="0">
              <a:lnSpc>
                <a:spcPct val="136000"/>
              </a:lnSpc>
              <a:buNone/>
            </a:pPr>
            <a:r>
              <a:rPr lang="en-US" sz="1950" dirty="0">
                <a:solidFill>
                  <a:srgbClr val="83726C"/>
                </a:solidFill>
                <a:latin typeface="Arial" pitchFamily="34" charset="0"/>
                <a:ea typeface="Arial" pitchFamily="34" charset="-122"/>
                <a:cs typeface="Arial" pitchFamily="34" charset="-120"/>
              </a:rPr>
              <a:t>XGBoost chosen — literature pick; SHAP's TreeExplainer handles it exactly.</a:t>
            </a:r>
            <a:endParaRPr lang="en-US" sz="1950" dirty="0"/>
          </a:p>
        </p:txBody>
      </p:sp>
      <p:sp>
        <p:nvSpPr>
          <p:cNvPr id="19" name="Shape 14"/>
          <p:cNvSpPr/>
          <p:nvPr/>
        </p:nvSpPr>
        <p:spPr>
          <a:xfrm>
            <a:off x="9088636" y="2714625"/>
            <a:ext cx="8151614" cy="1162348"/>
          </a:xfrm>
          <a:prstGeom prst="roundRect">
            <a:avLst>
              <a:gd name="adj" fmla="val 11472"/>
            </a:avLst>
          </a:prstGeom>
          <a:solidFill>
            <a:srgbClr val="EFDCD8"/>
          </a:solidFill>
          <a:ln w="9525">
            <a:solidFill>
              <a:srgbClr val="E3C9C4"/>
            </a:solidFill>
            <a:prstDash val="solid"/>
          </a:ln>
        </p:spPr>
      </p:sp>
      <p:sp>
        <p:nvSpPr>
          <p:cNvPr id="20" name="Text 15"/>
          <p:cNvSpPr/>
          <p:nvPr/>
        </p:nvSpPr>
        <p:spPr>
          <a:xfrm>
            <a:off x="9364861" y="2933700"/>
            <a:ext cx="7843712" cy="762298"/>
          </a:xfrm>
          <a:prstGeom prst="rect">
            <a:avLst/>
          </a:prstGeom>
          <a:noFill/>
          <a:ln/>
        </p:spPr>
        <p:txBody>
          <a:bodyPr wrap="square" lIns="25400" tIns="25400" rIns="25400" bIns="25400" rtlCol="0" anchor="t">
            <a:normAutofit/>
          </a:bodyPr>
          <a:lstStyle/>
          <a:p>
            <a:pPr algn="l" indent="0" marL="0">
              <a:lnSpc>
                <a:spcPct val="134000"/>
              </a:lnSpc>
              <a:buNone/>
            </a:pPr>
            <a:r>
              <a:rPr lang="en-US" sz="2100" b="1" dirty="0">
                <a:solidFill>
                  <a:srgbClr val="7C1D2A"/>
                </a:solidFill>
                <a:latin typeface="Arial" pitchFamily="34" charset="0"/>
                <a:ea typeface="Arial" pitchFamily="34" charset="-122"/>
                <a:cs typeface="Arial" pitchFamily="34" charset="-120"/>
              </a:rPr>
              <a:t>Why so high? </a:t>
            </a:r>
            <a:pPr algn="l" indent="0" marL="0">
              <a:lnSpc>
                <a:spcPct val="134000"/>
              </a:lnSpc>
              <a:buNone/>
            </a:pPr>
            <a:r>
              <a:rPr lang="en-US" sz="2100" dirty="0">
                <a:solidFill>
                  <a:srgbClr val="2A1A1B"/>
                </a:solidFill>
                <a:highlight>
                  <a:srgbClr val="EFDCD8"/>
                </a:highlight>
                <a:latin typeface="Arial" pitchFamily="34" charset="0"/>
                <a:ea typeface="Arial" pitchFamily="34" charset="-122"/>
                <a:cs typeface="Arial" pitchFamily="34" charset="-120"/>
              </a:rPr>
              <a:t>Label leakage — the label is defined from a haemoglobin threshold.</a:t>
            </a:r>
            <a:endParaRPr lang="en-US" sz="2100" dirty="0"/>
          </a:p>
        </p:txBody>
      </p:sp>
      <p:sp>
        <p:nvSpPr>
          <p:cNvPr id="21" name="Shape 16"/>
          <p:cNvSpPr/>
          <p:nvPr/>
        </p:nvSpPr>
        <p:spPr>
          <a:xfrm>
            <a:off x="9088636" y="4048423"/>
            <a:ext cx="8151614" cy="1162348"/>
          </a:xfrm>
          <a:prstGeom prst="roundRect">
            <a:avLst>
              <a:gd name="adj" fmla="val 11472"/>
            </a:avLst>
          </a:prstGeom>
          <a:solidFill>
            <a:srgbClr val="EDE4D6"/>
          </a:solidFill>
          <a:ln w="9525">
            <a:solidFill>
              <a:srgbClr val="E2D7C7"/>
            </a:solidFill>
            <a:prstDash val="solid"/>
          </a:ln>
        </p:spPr>
      </p:sp>
      <p:sp>
        <p:nvSpPr>
          <p:cNvPr id="22" name="Text 17"/>
          <p:cNvSpPr/>
          <p:nvPr/>
        </p:nvSpPr>
        <p:spPr>
          <a:xfrm>
            <a:off x="9364861" y="4267498"/>
            <a:ext cx="7843712" cy="762298"/>
          </a:xfrm>
          <a:prstGeom prst="rect">
            <a:avLst/>
          </a:prstGeom>
          <a:noFill/>
          <a:ln/>
        </p:spPr>
        <p:txBody>
          <a:bodyPr wrap="square" lIns="25400" tIns="25400" rIns="25400" bIns="25400" rtlCol="0" anchor="t">
            <a:normAutofit/>
          </a:bodyPr>
          <a:lstStyle/>
          <a:p>
            <a:pPr algn="l" indent="0" marL="0">
              <a:lnSpc>
                <a:spcPct val="134000"/>
              </a:lnSpc>
              <a:buNone/>
            </a:pPr>
            <a:r>
              <a:rPr lang="en-US" sz="2100" b="1" dirty="0">
                <a:solidFill>
                  <a:srgbClr val="2A1A1B"/>
                </a:solidFill>
                <a:latin typeface="Arial" pitchFamily="34" charset="0"/>
                <a:ea typeface="Arial" pitchFamily="34" charset="-122"/>
                <a:cs typeface="Arial" pitchFamily="34" charset="-120"/>
              </a:rPr>
              <a:t>Robustness check (nohb): </a:t>
            </a:r>
            <a:pPr algn="l" indent="0" marL="0">
              <a:lnSpc>
                <a:spcPct val="134000"/>
              </a:lnSpc>
              <a:buNone/>
            </a:pPr>
            <a:r>
              <a:rPr lang="en-US" sz="2100" dirty="0">
                <a:solidFill>
                  <a:srgbClr val="2A1A1B"/>
                </a:solidFill>
                <a:highlight>
                  <a:srgbClr val="EDE4D6"/>
                </a:highlight>
                <a:latin typeface="Arial" pitchFamily="34" charset="0"/>
                <a:ea typeface="Arial" pitchFamily="34" charset="-122"/>
                <a:cs typeface="Arial" pitchFamily="34" charset="-120"/>
              </a:rPr>
              <a:t>remove Hb and performance collapses to ~chance — </a:t>
            </a:r>
            <a:pPr algn="l" indent="0" marL="0">
              <a:lnSpc>
                <a:spcPct val="134000"/>
              </a:lnSpc>
              <a:buNone/>
            </a:pPr>
            <a:r>
              <a:rPr lang="en-US" sz="1875" b="1" dirty="0">
                <a:solidFill>
                  <a:srgbClr val="A8323E"/>
                </a:solidFill>
                <a:latin typeface="Courier New" pitchFamily="34" charset="0"/>
                <a:ea typeface="Courier New" pitchFamily="34" charset="-122"/>
                <a:cs typeface="Courier New" pitchFamily="34" charset="-120"/>
              </a:rPr>
              <a:t>AUC ≈ 0.48–0.63</a:t>
            </a:r>
            <a:pPr algn="l" indent="0" marL="0">
              <a:lnSpc>
                <a:spcPct val="134000"/>
              </a:lnSpc>
              <a:buNone/>
            </a:pPr>
            <a:r>
              <a:rPr lang="en-US" sz="2100" dirty="0">
                <a:solidFill>
                  <a:srgbClr val="2A1A1B"/>
                </a:solidFill>
                <a:highlight>
                  <a:srgbClr val="EDE4D6"/>
                </a:highlight>
                <a:latin typeface="Arial" pitchFamily="34" charset="0"/>
                <a:ea typeface="Arial" pitchFamily="34" charset="-122"/>
                <a:cs typeface="Arial" pitchFamily="34" charset="-120"/>
              </a:rPr>
              <a:t>.</a:t>
            </a:r>
            <a:endParaRPr lang="en-US" sz="2100" dirty="0"/>
          </a:p>
        </p:txBody>
      </p:sp>
      <p:sp>
        <p:nvSpPr>
          <p:cNvPr id="23" name="Shape 18"/>
          <p:cNvSpPr/>
          <p:nvPr/>
        </p:nvSpPr>
        <p:spPr>
          <a:xfrm>
            <a:off x="9088636" y="5382220"/>
            <a:ext cx="8151614" cy="2769394"/>
          </a:xfrm>
          <a:prstGeom prst="roundRect">
            <a:avLst>
              <a:gd name="adj" fmla="val 4815"/>
            </a:avLst>
          </a:prstGeom>
          <a:solidFill>
            <a:srgbClr val="EDE4D6"/>
          </a:solidFill>
          <a:ln w="9525">
            <a:solidFill>
              <a:srgbClr val="E2D7C7"/>
            </a:solidFill>
            <a:prstDash val="solid"/>
          </a:ln>
        </p:spPr>
      </p:sp>
      <p:sp>
        <p:nvSpPr>
          <p:cNvPr id="24" name="Text 19"/>
          <p:cNvSpPr/>
          <p:nvPr/>
        </p:nvSpPr>
        <p:spPr>
          <a:xfrm>
            <a:off x="9364861" y="6404818"/>
            <a:ext cx="7827139" cy="762298"/>
          </a:xfrm>
          <a:prstGeom prst="rect">
            <a:avLst/>
          </a:prstGeom>
          <a:noFill/>
          <a:ln/>
        </p:spPr>
        <p:txBody>
          <a:bodyPr wrap="square" lIns="25400" tIns="25400" rIns="25400" bIns="25400" rtlCol="0" anchor="t">
            <a:normAutofit/>
          </a:bodyPr>
          <a:lstStyle/>
          <a:p>
            <a:pPr algn="l" indent="0" marL="0">
              <a:lnSpc>
                <a:spcPct val="134000"/>
              </a:lnSpc>
              <a:buNone/>
            </a:pPr>
            <a:r>
              <a:rPr lang="en-US" sz="2100" b="1" dirty="0">
                <a:solidFill>
                  <a:srgbClr val="2A1A1B"/>
                </a:solidFill>
                <a:latin typeface="Arial" pitchFamily="34" charset="0"/>
                <a:ea typeface="Arial" pitchFamily="34" charset="-122"/>
                <a:cs typeface="Arial" pitchFamily="34" charset="-120"/>
              </a:rPr>
              <a:t>SHAP + LIME agree: </a:t>
            </a:r>
            <a:pPr algn="l" indent="0" marL="0">
              <a:lnSpc>
                <a:spcPct val="134000"/>
              </a:lnSpc>
              <a:buNone/>
            </a:pPr>
            <a:r>
              <a:rPr lang="en-US" sz="2100" dirty="0">
                <a:solidFill>
                  <a:srgbClr val="2A1A1B"/>
                </a:solidFill>
                <a:latin typeface="Arial" pitchFamily="34" charset="0"/>
                <a:ea typeface="Arial" pitchFamily="34" charset="-122"/>
                <a:cs typeface="Arial" pitchFamily="34" charset="-120"/>
              </a:rPr>
              <a:t>Haemoglobin ranks far above all else; LIME finds the same low-Hb rule — two methods, one story.</a:t>
            </a:r>
            <a:endParaRPr lang="en-US" sz="2100" dirty="0"/>
          </a:p>
        </p:txBody>
      </p:sp>
      <p:sp>
        <p:nvSpPr>
          <p:cNvPr id="25" name="Shape 20"/>
          <p:cNvSpPr/>
          <p:nvPr/>
        </p:nvSpPr>
        <p:spPr>
          <a:xfrm>
            <a:off x="1047750" y="8456414"/>
            <a:ext cx="16192500" cy="1087636"/>
          </a:xfrm>
          <a:prstGeom prst="roundRect">
            <a:avLst>
              <a:gd name="adj" fmla="val 14012"/>
            </a:avLst>
          </a:prstGeom>
          <a:solidFill>
            <a:srgbClr val="7C1D2A"/>
          </a:solidFill>
          <a:ln/>
        </p:spPr>
      </p:sp>
      <p:sp>
        <p:nvSpPr>
          <p:cNvPr id="26" name="Text 21"/>
          <p:cNvSpPr/>
          <p:nvPr/>
        </p:nvSpPr>
        <p:spPr>
          <a:xfrm>
            <a:off x="1352550" y="8665964"/>
            <a:ext cx="10619064" cy="706636"/>
          </a:xfrm>
          <a:prstGeom prst="rect">
            <a:avLst/>
          </a:prstGeom>
          <a:noFill/>
          <a:ln/>
        </p:spPr>
        <p:txBody>
          <a:bodyPr wrap="square" lIns="25400" tIns="25400" rIns="25400" bIns="25400" rtlCol="0" anchor="t">
            <a:normAutofit/>
          </a:bodyPr>
          <a:lstStyle/>
          <a:p>
            <a:pPr algn="l" indent="0" marL="0">
              <a:lnSpc>
                <a:spcPct val="130000"/>
              </a:lnSpc>
              <a:buNone/>
            </a:pPr>
            <a:r>
              <a:rPr lang="en-US" sz="1650" dirty="0">
                <a:solidFill>
                  <a:srgbClr val="E6B7B0"/>
                </a:solidFill>
                <a:latin typeface="Courier New" pitchFamily="34" charset="0"/>
                <a:ea typeface="Courier New" pitchFamily="34" charset="-122"/>
                <a:cs typeface="Courier New" pitchFamily="34" charset="-120"/>
              </a:rPr>
              <a:t>WEB APP </a:t>
            </a:r>
            <a:pPr algn="l" indent="0" marL="0">
              <a:lnSpc>
                <a:spcPct val="130000"/>
              </a:lnSpc>
              <a:buNone/>
            </a:pPr>
            <a:r>
              <a:rPr lang="en-US" sz="2025" dirty="0">
                <a:solidFill>
                  <a:srgbClr val="F7F1E9"/>
                </a:solidFill>
                <a:latin typeface="Arial" pitchFamily="34" charset="0"/>
                <a:ea typeface="Arial" pitchFamily="34" charset="-122"/>
                <a:cs typeface="Arial" pitchFamily="34" charset="-120"/>
              </a:rPr>
              <a:t>CBC values → prediction + confidence → 3-model comparison → SHAP why → LIME second opinion</a:t>
            </a:r>
            <a:endParaRPr lang="en-US" sz="2025" dirty="0"/>
          </a:p>
        </p:txBody>
      </p:sp>
      <p:sp>
        <p:nvSpPr>
          <p:cNvPr id="27" name="Shape 22"/>
          <p:cNvSpPr/>
          <p:nvPr/>
        </p:nvSpPr>
        <p:spPr>
          <a:xfrm>
            <a:off x="11890921" y="8738295"/>
            <a:ext cx="5044529" cy="523875"/>
          </a:xfrm>
          <a:prstGeom prst="roundRect">
            <a:avLst>
              <a:gd name="adj" fmla="val 18182"/>
            </a:avLst>
          </a:prstGeom>
          <a:solidFill>
            <a:srgbClr val="000000">
              <a:alpha val="22000"/>
            </a:srgbClr>
          </a:solidFill>
          <a:ln/>
        </p:spPr>
      </p:sp>
      <p:sp>
        <p:nvSpPr>
          <p:cNvPr id="28" name="Text 23"/>
          <p:cNvSpPr/>
          <p:nvPr/>
        </p:nvSpPr>
        <p:spPr>
          <a:xfrm>
            <a:off x="12081421" y="8852595"/>
            <a:ext cx="4814865" cy="333375"/>
          </a:xfrm>
          <a:prstGeom prst="rect">
            <a:avLst/>
          </a:prstGeom>
          <a:noFill/>
          <a:ln/>
        </p:spPr>
        <p:txBody>
          <a:bodyPr wrap="none" lIns="25400" tIns="25400" rIns="25400" bIns="25400" rtlCol="0" anchor="t">
            <a:normAutofit/>
          </a:bodyPr>
          <a:lstStyle/>
          <a:p>
            <a:pPr algn="l" indent="0" marL="0">
              <a:buNone/>
            </a:pPr>
            <a:r>
              <a:rPr lang="en-US" sz="1800" dirty="0">
                <a:solidFill>
                  <a:srgbClr val="F7F1E9"/>
                </a:solidFill>
                <a:latin typeface="Courier New" pitchFamily="34" charset="0"/>
                <a:ea typeface="Courier New" pitchFamily="34" charset="-122"/>
                <a:cs typeface="Courier New" pitchFamily="34" charset="-120"/>
              </a:rPr>
              <a:t>streamlit run app/streamlit_app.py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EE4"/>
        </a:solidFill>
      </p:bgPr>
    </p:bg>
    <p:spTree>
      <p:nvGrpSpPr>
        <p:cNvPr id="1" name=""/>
        <p:cNvGrpSpPr/>
        <p:nvPr/>
      </p:nvGrpSpPr>
      <p:grpSpPr>
        <a:xfrm>
          <a:off x="0" y="0"/>
          <a:ext cx="0" cy="0"/>
          <a:chOff x="0" y="0"/>
          <a:chExt cx="0" cy="0"/>
        </a:xfrm>
      </p:grpSpPr>
      <p:sp>
        <p:nvSpPr>
          <p:cNvPr id="2" name="Text 0"/>
          <p:cNvSpPr/>
          <p:nvPr/>
        </p:nvSpPr>
        <p:spPr>
          <a:xfrm>
            <a:off x="1047750" y="800100"/>
            <a:ext cx="5039023" cy="352425"/>
          </a:xfrm>
          <a:prstGeom prst="rect">
            <a:avLst/>
          </a:prstGeom>
          <a:noFill/>
          <a:ln/>
        </p:spPr>
        <p:txBody>
          <a:bodyPr wrap="square" lIns="25400" tIns="25400" rIns="25400" bIns="25400" rtlCol="0" anchor="ctr">
            <a:normAutofit/>
          </a:bodyPr>
          <a:lstStyle/>
          <a:p>
            <a:pPr algn="l" indent="0" marL="0">
              <a:buNone/>
            </a:pPr>
            <a:r>
              <a:rPr lang="en-US" sz="1800" b="1" spc="216" kern="0" dirty="0">
                <a:solidFill>
                  <a:srgbClr val="A8323E"/>
                </a:solidFill>
                <a:latin typeface="Courier New" pitchFamily="34" charset="0"/>
                <a:ea typeface="Courier New" pitchFamily="34" charset="-122"/>
                <a:cs typeface="Courier New" pitchFamily="34" charset="-120"/>
              </a:rPr>
              <a:t>▣ INSERT FIGURES</a:t>
            </a:r>
            <a:endParaRPr lang="en-US" sz="1800" dirty="0"/>
          </a:p>
        </p:txBody>
      </p:sp>
      <p:sp>
        <p:nvSpPr>
          <p:cNvPr id="3" name="Text 1"/>
          <p:cNvSpPr/>
          <p:nvPr/>
        </p:nvSpPr>
        <p:spPr>
          <a:xfrm>
            <a:off x="1047750" y="1247775"/>
            <a:ext cx="5039023"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2A1A1B"/>
                </a:solidFill>
                <a:latin typeface="Arial" pitchFamily="34" charset="0"/>
                <a:ea typeface="Arial" pitchFamily="34" charset="-122"/>
                <a:cs typeface="Arial" pitchFamily="34" charset="-120"/>
              </a:rPr>
              <a:t>Figures — Results</a:t>
            </a:r>
            <a:endParaRPr lang="en-US" sz="4200" dirty="0"/>
          </a:p>
        </p:txBody>
      </p:sp>
      <p:sp>
        <p:nvSpPr>
          <p:cNvPr id="4" name="Text 2"/>
          <p:cNvSpPr/>
          <p:nvPr/>
        </p:nvSpPr>
        <p:spPr>
          <a:xfrm>
            <a:off x="11233368" y="828675"/>
            <a:ext cx="6006882" cy="361950"/>
          </a:xfrm>
          <a:prstGeom prst="rect">
            <a:avLst/>
          </a:prstGeom>
          <a:noFill/>
          <a:ln/>
        </p:spPr>
        <p:txBody>
          <a:bodyPr wrap="square" lIns="25400" tIns="25400" rIns="25400" bIns="25400" rtlCol="0" anchor="t">
            <a:normAutofit/>
          </a:bodyPr>
          <a:lstStyle/>
          <a:p>
            <a:pPr algn="r" indent="0" marL="0">
              <a:buNone/>
            </a:pPr>
            <a:r>
              <a:rPr lang="en-US" sz="1950" dirty="0">
                <a:solidFill>
                  <a:srgbClr val="83726C"/>
                </a:solidFill>
                <a:latin typeface="Arial" pitchFamily="34" charset="0"/>
                <a:ea typeface="Arial" pitchFamily="34" charset="-122"/>
                <a:cs typeface="Arial" pitchFamily="34" charset="-120"/>
              </a:rPr>
              <a:t>Use the 2 that best fit your slot — delete the rest.</a:t>
            </a:r>
            <a:endParaRPr lang="en-US" sz="1950" dirty="0"/>
          </a:p>
        </p:txBody>
      </p:sp>
      <p:sp>
        <p:nvSpPr>
          <p:cNvPr id="5" name="Text 3"/>
          <p:cNvSpPr/>
          <p:nvPr/>
        </p:nvSpPr>
        <p:spPr>
          <a:xfrm>
            <a:off x="16158121" y="1209675"/>
            <a:ext cx="1082129" cy="609600"/>
          </a:xfrm>
          <a:prstGeom prst="rect">
            <a:avLst/>
          </a:prstGeom>
          <a:noFill/>
          <a:ln/>
        </p:spPr>
        <p:txBody>
          <a:bodyPr wrap="square" lIns="25400" tIns="25400" rIns="25400" bIns="25400" rtlCol="0" anchor="t">
            <a:normAutofit/>
          </a:bodyPr>
          <a:lstStyle/>
          <a:p>
            <a:pPr algn="r" indent="0" marL="0">
              <a:buNone/>
            </a:pPr>
            <a:r>
              <a:rPr lang="en-US" sz="3300" b="1" dirty="0">
                <a:solidFill>
                  <a:srgbClr val="E2D7C7"/>
                </a:solidFill>
                <a:latin typeface="Courier New" pitchFamily="34" charset="0"/>
                <a:ea typeface="Courier New" pitchFamily="34" charset="-122"/>
                <a:cs typeface="Courier New" pitchFamily="34" charset="-120"/>
              </a:rPr>
              <a:t>09·F</a:t>
            </a:r>
            <a:endParaRPr lang="en-US" sz="3300" dirty="0"/>
          </a:p>
        </p:txBody>
      </p:sp>
      <p:sp>
        <p:nvSpPr>
          <p:cNvPr id="6" name="Shape 4"/>
          <p:cNvSpPr/>
          <p:nvPr/>
        </p:nvSpPr>
        <p:spPr>
          <a:xfrm>
            <a:off x="1047750" y="2028825"/>
            <a:ext cx="7991475" cy="3690937"/>
          </a:xfrm>
          <a:prstGeom prst="roundRect">
            <a:avLst>
              <a:gd name="adj" fmla="val 4129"/>
            </a:avLst>
          </a:prstGeom>
          <a:solidFill>
            <a:srgbClr val="ECE3D5"/>
          </a:solidFill>
          <a:ln w="28575">
            <a:solidFill>
              <a:srgbClr val="7C1D2A"/>
            </a:solidFill>
            <a:prstDash val="dash"/>
          </a:ln>
        </p:spPr>
      </p:sp>
      <p:sp>
        <p:nvSpPr>
          <p:cNvPr id="7" name="Shape 5"/>
          <p:cNvSpPr/>
          <p:nvPr/>
        </p:nvSpPr>
        <p:spPr>
          <a:xfrm>
            <a:off x="3004989" y="3402806"/>
            <a:ext cx="4076849" cy="514350"/>
          </a:xfrm>
          <a:prstGeom prst="roundRect">
            <a:avLst>
              <a:gd name="adj" fmla="val 18519"/>
            </a:avLst>
          </a:prstGeom>
          <a:solidFill>
            <a:srgbClr val="FFFFFF"/>
          </a:solidFill>
          <a:ln w="9525">
            <a:solidFill>
              <a:srgbClr val="E2D7C7"/>
            </a:solidFill>
            <a:prstDash val="solid"/>
          </a:ln>
        </p:spPr>
      </p:sp>
      <p:sp>
        <p:nvSpPr>
          <p:cNvPr id="8" name="Text 6"/>
          <p:cNvSpPr/>
          <p:nvPr/>
        </p:nvSpPr>
        <p:spPr>
          <a:xfrm>
            <a:off x="3185964" y="3498056"/>
            <a:ext cx="3837204" cy="361950"/>
          </a:xfrm>
          <a:prstGeom prst="rect">
            <a:avLst/>
          </a:prstGeom>
          <a:noFill/>
          <a:ln/>
        </p:spPr>
        <p:txBody>
          <a:bodyPr wrap="square" lIns="25400" tIns="25400" rIns="25400" bIns="25400" rtlCol="0" anchor="t">
            <a:normAutofit/>
          </a:bodyPr>
          <a:lstStyle/>
          <a:p>
            <a:pPr algn="l" indent="0" marL="0">
              <a:buNone/>
            </a:pPr>
            <a:r>
              <a:rPr lang="en-US" sz="1875" b="1" dirty="0">
                <a:solidFill>
                  <a:srgbClr val="7C1D2A"/>
                </a:solidFill>
                <a:latin typeface="Courier New" pitchFamily="34" charset="0"/>
                <a:ea typeface="Courier New" pitchFamily="34" charset="-122"/>
                <a:cs typeface="Courier New" pitchFamily="34" charset="-120"/>
              </a:rPr>
              <a:t>fig_metrics_comparison.png</a:t>
            </a:r>
            <a:endParaRPr lang="en-US" sz="1875" dirty="0"/>
          </a:p>
        </p:txBody>
      </p:sp>
      <p:sp>
        <p:nvSpPr>
          <p:cNvPr id="9" name="Text 7"/>
          <p:cNvSpPr/>
          <p:nvPr/>
        </p:nvSpPr>
        <p:spPr>
          <a:xfrm>
            <a:off x="2118628" y="4031456"/>
            <a:ext cx="5849719" cy="352425"/>
          </a:xfrm>
          <a:prstGeom prst="rect">
            <a:avLst/>
          </a:prstGeom>
          <a:noFill/>
          <a:ln/>
        </p:spPr>
        <p:txBody>
          <a:bodyPr wrap="square" lIns="25400" tIns="25400" rIns="25400" bIns="25400" rtlCol="0" anchor="t">
            <a:normAutofit/>
          </a:bodyPr>
          <a:lstStyle/>
          <a:p>
            <a:pPr algn="ctr" indent="0" marL="0">
              <a:lnSpc>
                <a:spcPct val="132000"/>
              </a:lnSpc>
              <a:buNone/>
            </a:pPr>
            <a:r>
              <a:rPr lang="en-US" sz="1875" dirty="0">
                <a:solidFill>
                  <a:srgbClr val="83726C"/>
                </a:solidFill>
                <a:latin typeface="Arial" pitchFamily="34" charset="0"/>
                <a:ea typeface="Arial" pitchFamily="34" charset="-122"/>
                <a:cs typeface="Arial" pitchFamily="34" charset="-120"/>
              </a:rPr>
              <a:t>Bar chart — 5 metrics across RF / SVM / XGBoost</a:t>
            </a:r>
            <a:endParaRPr lang="en-US" sz="1875" dirty="0"/>
          </a:p>
        </p:txBody>
      </p:sp>
      <p:sp>
        <p:nvSpPr>
          <p:cNvPr id="10" name="Shape 8"/>
          <p:cNvSpPr/>
          <p:nvPr/>
        </p:nvSpPr>
        <p:spPr>
          <a:xfrm>
            <a:off x="9248775" y="2028825"/>
            <a:ext cx="7991475" cy="3690937"/>
          </a:xfrm>
          <a:prstGeom prst="roundRect">
            <a:avLst>
              <a:gd name="adj" fmla="val 4129"/>
            </a:avLst>
          </a:prstGeom>
          <a:solidFill>
            <a:srgbClr val="ECE3D5"/>
          </a:solidFill>
          <a:ln w="28575">
            <a:solidFill>
              <a:srgbClr val="7C1D2A"/>
            </a:solidFill>
            <a:prstDash val="dash"/>
          </a:ln>
        </p:spPr>
      </p:sp>
      <p:sp>
        <p:nvSpPr>
          <p:cNvPr id="11" name="Shape 9"/>
          <p:cNvSpPr/>
          <p:nvPr/>
        </p:nvSpPr>
        <p:spPr>
          <a:xfrm>
            <a:off x="11920389" y="3402806"/>
            <a:ext cx="2648099" cy="514350"/>
          </a:xfrm>
          <a:prstGeom prst="roundRect">
            <a:avLst>
              <a:gd name="adj" fmla="val 18519"/>
            </a:avLst>
          </a:prstGeom>
          <a:solidFill>
            <a:srgbClr val="FFFFFF"/>
          </a:solidFill>
          <a:ln w="9525">
            <a:solidFill>
              <a:srgbClr val="E2D7C7"/>
            </a:solidFill>
            <a:prstDash val="solid"/>
          </a:ln>
        </p:spPr>
      </p:sp>
      <p:sp>
        <p:nvSpPr>
          <p:cNvPr id="12" name="Text 10"/>
          <p:cNvSpPr/>
          <p:nvPr/>
        </p:nvSpPr>
        <p:spPr>
          <a:xfrm>
            <a:off x="12101364" y="3498056"/>
            <a:ext cx="2365592" cy="361950"/>
          </a:xfrm>
          <a:prstGeom prst="rect">
            <a:avLst/>
          </a:prstGeom>
          <a:noFill/>
          <a:ln/>
        </p:spPr>
        <p:txBody>
          <a:bodyPr wrap="square" lIns="25400" tIns="25400" rIns="25400" bIns="25400" rtlCol="0" anchor="t">
            <a:normAutofit/>
          </a:bodyPr>
          <a:lstStyle/>
          <a:p>
            <a:pPr algn="l" indent="0" marL="0">
              <a:buNone/>
            </a:pPr>
            <a:r>
              <a:rPr lang="en-US" sz="1875" b="1" dirty="0">
                <a:solidFill>
                  <a:srgbClr val="7C1D2A"/>
                </a:solidFill>
                <a:latin typeface="Courier New" pitchFamily="34" charset="0"/>
                <a:ea typeface="Courier New" pitchFamily="34" charset="-122"/>
                <a:cs typeface="Courier New" pitchFamily="34" charset="-120"/>
              </a:rPr>
              <a:t>fig_roc_full.png</a:t>
            </a:r>
            <a:endParaRPr lang="en-US" sz="1875" dirty="0"/>
          </a:p>
        </p:txBody>
      </p:sp>
      <p:sp>
        <p:nvSpPr>
          <p:cNvPr id="13" name="Text 11"/>
          <p:cNvSpPr/>
          <p:nvPr/>
        </p:nvSpPr>
        <p:spPr>
          <a:xfrm>
            <a:off x="11821708" y="4031456"/>
            <a:ext cx="2845460" cy="352425"/>
          </a:xfrm>
          <a:prstGeom prst="rect">
            <a:avLst/>
          </a:prstGeom>
          <a:noFill/>
          <a:ln/>
        </p:spPr>
        <p:txBody>
          <a:bodyPr wrap="square" lIns="25400" tIns="25400" rIns="25400" bIns="25400" rtlCol="0" anchor="t">
            <a:normAutofit/>
          </a:bodyPr>
          <a:lstStyle/>
          <a:p>
            <a:pPr algn="ctr" indent="0" marL="0">
              <a:lnSpc>
                <a:spcPct val="132000"/>
              </a:lnSpc>
              <a:buNone/>
            </a:pPr>
            <a:r>
              <a:rPr lang="en-US" sz="1875" dirty="0">
                <a:solidFill>
                  <a:srgbClr val="83726C"/>
                </a:solidFill>
                <a:latin typeface="Arial" pitchFamily="34" charset="0"/>
                <a:ea typeface="Arial" pitchFamily="34" charset="-122"/>
                <a:cs typeface="Arial" pitchFamily="34" charset="-120"/>
              </a:rPr>
              <a:t>ROC curves — full track</a:t>
            </a:r>
            <a:endParaRPr lang="en-US" sz="1875" dirty="0"/>
          </a:p>
        </p:txBody>
      </p:sp>
      <p:sp>
        <p:nvSpPr>
          <p:cNvPr id="14" name="Shape 12"/>
          <p:cNvSpPr/>
          <p:nvPr/>
        </p:nvSpPr>
        <p:spPr>
          <a:xfrm>
            <a:off x="1047750" y="5929313"/>
            <a:ext cx="7991475" cy="3690937"/>
          </a:xfrm>
          <a:prstGeom prst="roundRect">
            <a:avLst>
              <a:gd name="adj" fmla="val 4129"/>
            </a:avLst>
          </a:prstGeom>
          <a:solidFill>
            <a:srgbClr val="ECE3D5"/>
          </a:solidFill>
          <a:ln w="28575">
            <a:solidFill>
              <a:srgbClr val="7C1D2A"/>
            </a:solidFill>
            <a:prstDash val="dash"/>
          </a:ln>
        </p:spPr>
      </p:sp>
      <p:sp>
        <p:nvSpPr>
          <p:cNvPr id="15" name="Shape 13"/>
          <p:cNvSpPr/>
          <p:nvPr/>
        </p:nvSpPr>
        <p:spPr>
          <a:xfrm>
            <a:off x="3004989" y="7303294"/>
            <a:ext cx="4076849" cy="514350"/>
          </a:xfrm>
          <a:prstGeom prst="roundRect">
            <a:avLst>
              <a:gd name="adj" fmla="val 18519"/>
            </a:avLst>
          </a:prstGeom>
          <a:solidFill>
            <a:srgbClr val="FFFFFF"/>
          </a:solidFill>
          <a:ln w="9525">
            <a:solidFill>
              <a:srgbClr val="E2D7C7"/>
            </a:solidFill>
            <a:prstDash val="solid"/>
          </a:ln>
        </p:spPr>
      </p:sp>
      <p:sp>
        <p:nvSpPr>
          <p:cNvPr id="16" name="Text 14"/>
          <p:cNvSpPr/>
          <p:nvPr/>
        </p:nvSpPr>
        <p:spPr>
          <a:xfrm>
            <a:off x="3185964" y="7398544"/>
            <a:ext cx="3837204" cy="361950"/>
          </a:xfrm>
          <a:prstGeom prst="rect">
            <a:avLst/>
          </a:prstGeom>
          <a:noFill/>
          <a:ln/>
        </p:spPr>
        <p:txBody>
          <a:bodyPr wrap="square" lIns="25400" tIns="25400" rIns="25400" bIns="25400" rtlCol="0" anchor="t">
            <a:normAutofit/>
          </a:bodyPr>
          <a:lstStyle/>
          <a:p>
            <a:pPr algn="l" indent="0" marL="0">
              <a:buNone/>
            </a:pPr>
            <a:r>
              <a:rPr lang="en-US" sz="1875" b="1" dirty="0">
                <a:solidFill>
                  <a:srgbClr val="7C1D2A"/>
                </a:solidFill>
                <a:latin typeface="Courier New" pitchFamily="34" charset="0"/>
                <a:ea typeface="Courier New" pitchFamily="34" charset="-122"/>
                <a:cs typeface="Courier New" pitchFamily="34" charset="-120"/>
              </a:rPr>
              <a:t>fig_shap_beeswarm_full.png</a:t>
            </a:r>
            <a:endParaRPr lang="en-US" sz="1875" dirty="0"/>
          </a:p>
        </p:txBody>
      </p:sp>
      <p:sp>
        <p:nvSpPr>
          <p:cNvPr id="17" name="Text 15"/>
          <p:cNvSpPr/>
          <p:nvPr/>
        </p:nvSpPr>
        <p:spPr>
          <a:xfrm>
            <a:off x="2356991" y="7931944"/>
            <a:ext cx="5372993" cy="352425"/>
          </a:xfrm>
          <a:prstGeom prst="rect">
            <a:avLst/>
          </a:prstGeom>
          <a:noFill/>
          <a:ln/>
        </p:spPr>
        <p:txBody>
          <a:bodyPr wrap="square" lIns="25400" tIns="25400" rIns="25400" bIns="25400" rtlCol="0" anchor="t">
            <a:normAutofit/>
          </a:bodyPr>
          <a:lstStyle/>
          <a:p>
            <a:pPr algn="ctr" indent="0" marL="0">
              <a:lnSpc>
                <a:spcPct val="132000"/>
              </a:lnSpc>
              <a:buNone/>
            </a:pPr>
            <a:r>
              <a:rPr lang="en-US" sz="1875" dirty="0">
                <a:solidFill>
                  <a:srgbClr val="83726C"/>
                </a:solidFill>
                <a:latin typeface="Arial" pitchFamily="34" charset="0"/>
                <a:ea typeface="Arial" pitchFamily="34" charset="-122"/>
                <a:cs typeface="Arial" pitchFamily="34" charset="-120"/>
              </a:rPr>
              <a:t>SHAP beeswarm — global feature importance</a:t>
            </a:r>
            <a:endParaRPr lang="en-US" sz="1875" dirty="0"/>
          </a:p>
        </p:txBody>
      </p:sp>
      <p:sp>
        <p:nvSpPr>
          <p:cNvPr id="18" name="Shape 16"/>
          <p:cNvSpPr/>
          <p:nvPr/>
        </p:nvSpPr>
        <p:spPr>
          <a:xfrm>
            <a:off x="9248775" y="5929313"/>
            <a:ext cx="7991475" cy="3690937"/>
          </a:xfrm>
          <a:prstGeom prst="roundRect">
            <a:avLst>
              <a:gd name="adj" fmla="val 4129"/>
            </a:avLst>
          </a:prstGeom>
          <a:solidFill>
            <a:srgbClr val="ECE3D5"/>
          </a:solidFill>
          <a:ln w="28575">
            <a:solidFill>
              <a:srgbClr val="7C1D2A"/>
            </a:solidFill>
            <a:prstDash val="dash"/>
          </a:ln>
        </p:spPr>
      </p:sp>
      <p:sp>
        <p:nvSpPr>
          <p:cNvPr id="19" name="Shape 17"/>
          <p:cNvSpPr/>
          <p:nvPr/>
        </p:nvSpPr>
        <p:spPr>
          <a:xfrm>
            <a:off x="11277451" y="7303294"/>
            <a:ext cx="3933974" cy="514350"/>
          </a:xfrm>
          <a:prstGeom prst="roundRect">
            <a:avLst>
              <a:gd name="adj" fmla="val 18519"/>
            </a:avLst>
          </a:prstGeom>
          <a:solidFill>
            <a:srgbClr val="FFFFFF"/>
          </a:solidFill>
          <a:ln w="9525">
            <a:solidFill>
              <a:srgbClr val="E2D7C7"/>
            </a:solidFill>
            <a:prstDash val="solid"/>
          </a:ln>
        </p:spPr>
      </p:sp>
      <p:sp>
        <p:nvSpPr>
          <p:cNvPr id="20" name="Text 18"/>
          <p:cNvSpPr/>
          <p:nvPr/>
        </p:nvSpPr>
        <p:spPr>
          <a:xfrm>
            <a:off x="11458426" y="7398544"/>
            <a:ext cx="3690043" cy="361950"/>
          </a:xfrm>
          <a:prstGeom prst="rect">
            <a:avLst/>
          </a:prstGeom>
          <a:noFill/>
          <a:ln/>
        </p:spPr>
        <p:txBody>
          <a:bodyPr wrap="square" lIns="25400" tIns="25400" rIns="25400" bIns="25400" rtlCol="0" anchor="t">
            <a:normAutofit/>
          </a:bodyPr>
          <a:lstStyle/>
          <a:p>
            <a:pPr algn="l" indent="0" marL="0">
              <a:buNone/>
            </a:pPr>
            <a:r>
              <a:rPr lang="en-US" sz="1875" b="1" dirty="0">
                <a:solidFill>
                  <a:srgbClr val="7C1D2A"/>
                </a:solidFill>
                <a:latin typeface="Courier New" pitchFamily="34" charset="0"/>
                <a:ea typeface="Courier New" pitchFamily="34" charset="-122"/>
                <a:cs typeface="Courier New" pitchFamily="34" charset="-120"/>
              </a:rPr>
              <a:t>fig_lime_full_anaemic.png</a:t>
            </a:r>
            <a:endParaRPr lang="en-US" sz="1875" dirty="0"/>
          </a:p>
        </p:txBody>
      </p:sp>
      <p:sp>
        <p:nvSpPr>
          <p:cNvPr id="21" name="Text 19"/>
          <p:cNvSpPr/>
          <p:nvPr/>
        </p:nvSpPr>
        <p:spPr>
          <a:xfrm>
            <a:off x="10786556" y="7931944"/>
            <a:ext cx="4915912" cy="352425"/>
          </a:xfrm>
          <a:prstGeom prst="rect">
            <a:avLst/>
          </a:prstGeom>
          <a:noFill/>
          <a:ln/>
        </p:spPr>
        <p:txBody>
          <a:bodyPr wrap="square" lIns="25400" tIns="25400" rIns="25400" bIns="25400" rtlCol="0" anchor="t">
            <a:normAutofit/>
          </a:bodyPr>
          <a:lstStyle/>
          <a:p>
            <a:pPr algn="ctr" indent="0" marL="0">
              <a:lnSpc>
                <a:spcPct val="132000"/>
              </a:lnSpc>
              <a:buNone/>
            </a:pPr>
            <a:r>
              <a:rPr lang="en-US" sz="1875" dirty="0">
                <a:solidFill>
                  <a:srgbClr val="83726C"/>
                </a:solidFill>
                <a:latin typeface="Arial" pitchFamily="34" charset="0"/>
                <a:ea typeface="Arial" pitchFamily="34" charset="-122"/>
                <a:cs typeface="Arial" pitchFamily="34" charset="-120"/>
              </a:rPr>
              <a:t>LIME — explanation for one anaemic case</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EE4"/>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47750" y="1423988"/>
            <a:ext cx="209550" cy="209550"/>
          </a:xfrm>
          <a:prstGeom prst="rect">
            <a:avLst/>
          </a:prstGeom>
        </p:spPr>
      </p:pic>
      <p:sp>
        <p:nvSpPr>
          <p:cNvPr id="3" name="Text 0"/>
          <p:cNvSpPr/>
          <p:nvPr/>
        </p:nvSpPr>
        <p:spPr>
          <a:xfrm>
            <a:off x="1371600" y="1371600"/>
            <a:ext cx="3051603" cy="352425"/>
          </a:xfrm>
          <a:prstGeom prst="rect">
            <a:avLst/>
          </a:prstGeom>
          <a:noFill/>
          <a:ln/>
        </p:spPr>
        <p:txBody>
          <a:bodyPr wrap="square" lIns="0" tIns="0" rIns="0" bIns="0" rtlCol="0" anchor="t">
            <a:normAutofit/>
          </a:bodyPr>
          <a:lstStyle/>
          <a:p>
            <a:pPr algn="l" indent="0" marL="0">
              <a:buNone/>
            </a:pPr>
            <a:r>
              <a:rPr lang="en-US" sz="1800" b="1" spc="216" kern="0" dirty="0">
                <a:solidFill>
                  <a:srgbClr val="7C1D2A"/>
                </a:solidFill>
                <a:latin typeface="Courier New" pitchFamily="34" charset="0"/>
                <a:ea typeface="Courier New" pitchFamily="34" charset="-122"/>
                <a:cs typeface="Courier New" pitchFamily="34" charset="-120"/>
              </a:rPr>
              <a:t>ANAEMIA · ML + XAI</a:t>
            </a:r>
            <a:endParaRPr lang="en-US" sz="1800" dirty="0"/>
          </a:p>
        </p:txBody>
      </p:sp>
      <p:pic>
        <p:nvPicPr>
          <p:cNvPr id="4" name="Image 1" descr="preencoded.png">    </p:cNvPr>
          <p:cNvPicPr>
            <a:picLocks noChangeAspect="1"/>
          </p:cNvPicPr>
          <p:nvPr/>
        </p:nvPicPr>
        <p:blipFill>
          <a:blip r:embed="rId3">
            <a:alphaModFix amt="7000"/>
            <a:extLst>
              <a:ext uri="{96DAC541-7B7A-43D3-8B79-37D633B846F1}">
                <asvg:svgBlip xmlns:asvg="http://schemas.microsoft.com/office/drawing/2016/SVG/main" r:embed="rId4"/>
              </a:ext>
            </a:extLst>
          </a:blip>
          <a:stretch>
            <a:fillRect/>
          </a:stretch>
        </p:blipFill>
        <p:spPr>
          <a:xfrm>
            <a:off x="13335000" y="5076825"/>
            <a:ext cx="4953000" cy="5400675"/>
          </a:xfrm>
          <a:prstGeom prst="rect">
            <a:avLst/>
          </a:prstGeom>
        </p:spPr>
      </p:pic>
      <p:sp>
        <p:nvSpPr>
          <p:cNvPr id="5" name="Text 1"/>
          <p:cNvSpPr/>
          <p:nvPr/>
        </p:nvSpPr>
        <p:spPr>
          <a:xfrm>
            <a:off x="1047750" y="1838325"/>
            <a:ext cx="8114005"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b="1" spc="-90" kern="0" dirty="0">
                <a:solidFill>
                  <a:srgbClr val="2A1A1B"/>
                </a:solidFill>
                <a:latin typeface="Arial" pitchFamily="34" charset="0"/>
                <a:ea typeface="Arial" pitchFamily="34" charset="-122"/>
                <a:cs typeface="Arial" pitchFamily="34" charset="-120"/>
              </a:rPr>
              <a:t>Conclusion &amp; Future Scope</a:t>
            </a:r>
            <a:endParaRPr lang="en-US" sz="4500" dirty="0"/>
          </a:p>
        </p:txBody>
      </p:sp>
      <p:pic>
        <p:nvPicPr>
          <p:cNvPr id="6" name="Image 2" descr="preencoded.png">    </p:cNvPr>
          <p:cNvPicPr>
            <a:picLocks noChangeAspect="1"/>
          </p:cNvPicPr>
          <p:nvPr/>
        </p:nvPicPr>
        <p:blipFill>
          <a:blip r:embed="rId5">
            <a:alphaModFix amt="90000"/>
            <a:extLst>
              <a:ext uri="{96DAC541-7B7A-43D3-8B79-37D633B846F1}">
                <asvg:svgBlip xmlns:asvg="http://schemas.microsoft.com/office/drawing/2016/SVG/main" r:embed="rId6"/>
              </a:ext>
            </a:extLst>
          </a:blip>
          <a:stretch>
            <a:fillRect/>
          </a:stretch>
        </p:blipFill>
        <p:spPr>
          <a:xfrm>
            <a:off x="16440150" y="857250"/>
            <a:ext cx="800100" cy="800100"/>
          </a:xfrm>
          <a:prstGeom prst="rect">
            <a:avLst/>
          </a:prstGeom>
        </p:spPr>
      </p:pic>
      <p:sp>
        <p:nvSpPr>
          <p:cNvPr id="7" name="Text 2"/>
          <p:cNvSpPr/>
          <p:nvPr/>
        </p:nvSpPr>
        <p:spPr>
          <a:xfrm>
            <a:off x="16691521" y="1790700"/>
            <a:ext cx="624929" cy="657225"/>
          </a:xfrm>
          <a:prstGeom prst="rect">
            <a:avLst/>
          </a:prstGeom>
          <a:noFill/>
          <a:ln/>
        </p:spPr>
        <p:txBody>
          <a:bodyPr wrap="square" lIns="25400" tIns="25400" rIns="25400" bIns="25400" rtlCol="0" anchor="t">
            <a:normAutofit/>
          </a:bodyPr>
          <a:lstStyle/>
          <a:p>
            <a:pPr algn="l" indent="0" marL="0">
              <a:buNone/>
            </a:pPr>
            <a:r>
              <a:rPr lang="en-US" sz="3600" b="1" dirty="0">
                <a:solidFill>
                  <a:srgbClr val="E2D7C7"/>
                </a:solidFill>
                <a:latin typeface="Courier New" pitchFamily="34" charset="0"/>
                <a:ea typeface="Courier New" pitchFamily="34" charset="-122"/>
                <a:cs typeface="Courier New" pitchFamily="34" charset="-120"/>
              </a:rPr>
              <a:t>10</a:t>
            </a:r>
            <a:endParaRPr lang="en-US" sz="3600" dirty="0"/>
          </a:p>
        </p:txBody>
      </p:sp>
      <p:sp>
        <p:nvSpPr>
          <p:cNvPr id="8" name="Shape 3"/>
          <p:cNvSpPr/>
          <p:nvPr/>
        </p:nvSpPr>
        <p:spPr>
          <a:xfrm>
            <a:off x="1047750" y="2714625"/>
            <a:ext cx="7785348" cy="5943600"/>
          </a:xfrm>
          <a:prstGeom prst="roundRect">
            <a:avLst>
              <a:gd name="adj" fmla="val 2885"/>
            </a:avLst>
          </a:prstGeom>
          <a:solidFill>
            <a:srgbClr val="7C1D2A"/>
          </a:solidFill>
          <a:ln/>
        </p:spPr>
      </p:sp>
      <p:sp>
        <p:nvSpPr>
          <p:cNvPr id="9" name="Text 4"/>
          <p:cNvSpPr/>
          <p:nvPr/>
        </p:nvSpPr>
        <p:spPr>
          <a:xfrm>
            <a:off x="1390650" y="3019425"/>
            <a:ext cx="7809503"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E6B7B0"/>
                </a:solidFill>
                <a:latin typeface="Courier New" pitchFamily="34" charset="0"/>
                <a:ea typeface="Courier New" pitchFamily="34" charset="-122"/>
                <a:cs typeface="Courier New" pitchFamily="34" charset="-120"/>
              </a:rPr>
              <a:t>WHAT WE DELIVERED</a:t>
            </a:r>
            <a:endParaRPr lang="en-US" sz="1725" dirty="0"/>
          </a:p>
        </p:txBody>
      </p:sp>
      <p:sp>
        <p:nvSpPr>
          <p:cNvPr id="10" name="Text 5"/>
          <p:cNvSpPr/>
          <p:nvPr/>
        </p:nvSpPr>
        <p:spPr>
          <a:xfrm>
            <a:off x="1390650" y="3533775"/>
            <a:ext cx="7312534" cy="847725"/>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F7F1E9"/>
                </a:solidFill>
                <a:latin typeface="Arial" pitchFamily="34" charset="0"/>
                <a:ea typeface="Arial" pitchFamily="34" charset="-122"/>
                <a:cs typeface="Arial" pitchFamily="34" charset="-120"/>
              </a:rPr>
              <a:t>A full, reproducible </a:t>
            </a:r>
            <a:pPr algn="l" indent="0" marL="0">
              <a:lnSpc>
                <a:spcPct val="140000"/>
              </a:lnSpc>
              <a:buNone/>
            </a:pPr>
            <a:r>
              <a:rPr lang="en-US" sz="2250" b="1" dirty="0">
                <a:solidFill>
                  <a:srgbClr val="F6D9D4"/>
                </a:solidFill>
                <a:latin typeface="Arial" pitchFamily="34" charset="0"/>
                <a:ea typeface="Arial" pitchFamily="34" charset="-122"/>
                <a:cs typeface="Arial" pitchFamily="34" charset="-120"/>
              </a:rPr>
              <a:t>ML + Explainable-AI pipeline </a:t>
            </a:r>
            <a:pPr algn="l" indent="0" marL="0">
              <a:lnSpc>
                <a:spcPct val="140000"/>
              </a:lnSpc>
              <a:buNone/>
            </a:pPr>
            <a:r>
              <a:rPr lang="en-US" sz="2250" dirty="0">
                <a:solidFill>
                  <a:srgbClr val="F7F1E9"/>
                </a:solidFill>
                <a:latin typeface="Arial" pitchFamily="34" charset="0"/>
                <a:ea typeface="Arial" pitchFamily="34" charset="-122"/>
                <a:cs typeface="Arial" pitchFamily="34" charset="-120"/>
              </a:rPr>
              <a:t>for anaemia screening.</a:t>
            </a:r>
            <a:endParaRPr lang="en-US" sz="2250" dirty="0"/>
          </a:p>
        </p:txBody>
      </p:sp>
      <p:sp>
        <p:nvSpPr>
          <p:cNvPr id="11" name="Text 6"/>
          <p:cNvSpPr/>
          <p:nvPr/>
        </p:nvSpPr>
        <p:spPr>
          <a:xfrm>
            <a:off x="1390650" y="4552950"/>
            <a:ext cx="7312534" cy="1647825"/>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F7F1E9"/>
                </a:solidFill>
                <a:latin typeface="Arial" pitchFamily="34" charset="0"/>
                <a:ea typeface="Arial" pitchFamily="34" charset="-122"/>
                <a:cs typeface="Arial" pitchFamily="34" charset="-120"/>
              </a:rPr>
              <a:t>The real contribution = model comparison + SHAP/LIME explanations + </a:t>
            </a:r>
            <a:pPr algn="l" indent="0" marL="0">
              <a:lnSpc>
                <a:spcPct val="140000"/>
              </a:lnSpc>
              <a:buNone/>
            </a:pPr>
            <a:r>
              <a:rPr lang="en-US" sz="2250" b="1" dirty="0">
                <a:solidFill>
                  <a:srgbClr val="F6D9D4"/>
                </a:solidFill>
                <a:latin typeface="Arial" pitchFamily="34" charset="0"/>
                <a:ea typeface="Arial" pitchFamily="34" charset="-122"/>
                <a:cs typeface="Arial" pitchFamily="34" charset="-120"/>
              </a:rPr>
              <a:t>methodological honesty </a:t>
            </a:r>
            <a:pPr algn="l" indent="0" marL="0">
              <a:lnSpc>
                <a:spcPct val="140000"/>
              </a:lnSpc>
              <a:buNone/>
            </a:pPr>
            <a:r>
              <a:rPr lang="en-US" sz="2250" dirty="0">
                <a:solidFill>
                  <a:srgbClr val="F7F1E9"/>
                </a:solidFill>
                <a:latin typeface="Arial" pitchFamily="34" charset="0"/>
                <a:ea typeface="Arial" pitchFamily="34" charset="-122"/>
                <a:cs typeface="Arial" pitchFamily="34" charset="-120"/>
              </a:rPr>
              <a:t>(diagnosing and disclosing the leakage) — not the accuracy number.</a:t>
            </a:r>
            <a:endParaRPr lang="en-US" sz="2250" dirty="0"/>
          </a:p>
        </p:txBody>
      </p:sp>
      <p:sp>
        <p:nvSpPr>
          <p:cNvPr id="12" name="Shape 7"/>
          <p:cNvSpPr/>
          <p:nvPr/>
        </p:nvSpPr>
        <p:spPr>
          <a:xfrm>
            <a:off x="9118848" y="2714625"/>
            <a:ext cx="8121402" cy="5943600"/>
          </a:xfrm>
          <a:prstGeom prst="roundRect">
            <a:avLst>
              <a:gd name="adj" fmla="val 2885"/>
            </a:avLst>
          </a:prstGeom>
          <a:solidFill>
            <a:srgbClr val="EDE4D6"/>
          </a:solidFill>
          <a:ln w="9525">
            <a:solidFill>
              <a:srgbClr val="E2D7C7"/>
            </a:solidFill>
            <a:prstDash val="solid"/>
          </a:ln>
        </p:spPr>
      </p:sp>
      <p:sp>
        <p:nvSpPr>
          <p:cNvPr id="13" name="Text 8"/>
          <p:cNvSpPr/>
          <p:nvPr/>
        </p:nvSpPr>
        <p:spPr>
          <a:xfrm>
            <a:off x="9452223" y="3009900"/>
            <a:ext cx="8200117" cy="342900"/>
          </a:xfrm>
          <a:prstGeom prst="rect">
            <a:avLst/>
          </a:prstGeom>
          <a:noFill/>
          <a:ln/>
        </p:spPr>
        <p:txBody>
          <a:bodyPr wrap="square" lIns="25400" tIns="25400" rIns="25400" bIns="25400" rtlCol="0" anchor="t">
            <a:normAutofit/>
          </a:bodyPr>
          <a:lstStyle/>
          <a:p>
            <a:pPr algn="l" indent="0" marL="0">
              <a:buNone/>
            </a:pPr>
            <a:r>
              <a:rPr lang="en-US" sz="1725" b="1" spc="138" kern="0" dirty="0">
                <a:solidFill>
                  <a:srgbClr val="A8323E"/>
                </a:solidFill>
                <a:latin typeface="Courier New" pitchFamily="34" charset="0"/>
                <a:ea typeface="Courier New" pitchFamily="34" charset="-122"/>
                <a:cs typeface="Courier New" pitchFamily="34" charset="-120"/>
              </a:rPr>
              <a:t>FUTURE SCOPE</a:t>
            </a:r>
            <a:endParaRPr lang="en-US" sz="1725" dirty="0"/>
          </a:p>
        </p:txBody>
      </p:sp>
      <p:sp>
        <p:nvSpPr>
          <p:cNvPr id="14" name="Shape 9"/>
          <p:cNvSpPr/>
          <p:nvPr/>
        </p:nvSpPr>
        <p:spPr>
          <a:xfrm rot="2700000">
            <a:off x="9452223" y="3571875"/>
            <a:ext cx="76200" cy="76200"/>
          </a:xfrm>
          <a:prstGeom prst="rect">
            <a:avLst/>
          </a:prstGeom>
          <a:solidFill>
            <a:srgbClr val="7C1D2A"/>
          </a:solidFill>
          <a:ln/>
        </p:spPr>
      </p:sp>
      <p:sp>
        <p:nvSpPr>
          <p:cNvPr id="15" name="Text 10"/>
          <p:cNvSpPr/>
          <p:nvPr/>
        </p:nvSpPr>
        <p:spPr>
          <a:xfrm>
            <a:off x="9661773" y="3467100"/>
            <a:ext cx="7462455" cy="735806"/>
          </a:xfrm>
          <a:prstGeom prst="rect">
            <a:avLst/>
          </a:prstGeom>
          <a:noFill/>
          <a:ln/>
        </p:spPr>
        <p:txBody>
          <a:bodyPr wrap="square" lIns="25400" tIns="25400" rIns="25400" bIns="25400" rtlCol="0" anchor="t">
            <a:normAutofit/>
          </a:bodyPr>
          <a:lstStyle/>
          <a:p>
            <a:pPr algn="l" indent="0" marL="0">
              <a:lnSpc>
                <a:spcPct val="132000"/>
              </a:lnSpc>
              <a:buNone/>
            </a:pPr>
            <a:r>
              <a:rPr lang="en-US" sz="2025" dirty="0">
                <a:solidFill>
                  <a:srgbClr val="2A1A1B"/>
                </a:solidFill>
                <a:latin typeface="Arial" pitchFamily="34" charset="0"/>
                <a:ea typeface="Arial" pitchFamily="34" charset="-122"/>
                <a:cs typeface="Arial" pitchFamily="34" charset="-120"/>
              </a:rPr>
              <a:t>Use a dataset whose label is an </a:t>
            </a:r>
            <a:pPr algn="l" indent="0" marL="0">
              <a:lnSpc>
                <a:spcPct val="132000"/>
              </a:lnSpc>
              <a:buNone/>
            </a:pPr>
            <a:r>
              <a:rPr lang="en-US" sz="2025" b="1" dirty="0">
                <a:solidFill>
                  <a:srgbClr val="2A1A1B"/>
                </a:solidFill>
                <a:latin typeface="Arial" pitchFamily="34" charset="0"/>
                <a:ea typeface="Arial" pitchFamily="34" charset="-122"/>
                <a:cs typeface="Arial" pitchFamily="34" charset="-120"/>
              </a:rPr>
              <a:t>independent clinical diagnosis </a:t>
            </a:r>
            <a:pPr algn="l" indent="0" marL="0">
              <a:lnSpc>
                <a:spcPct val="132000"/>
              </a:lnSpc>
              <a:buNone/>
            </a:pPr>
            <a:r>
              <a:rPr lang="en-US" sz="2025" dirty="0">
                <a:solidFill>
                  <a:srgbClr val="2A1A1B"/>
                </a:solidFill>
                <a:latin typeface="Arial" pitchFamily="34" charset="0"/>
                <a:ea typeface="Arial" pitchFamily="34" charset="-122"/>
                <a:cs typeface="Arial" pitchFamily="34" charset="-120"/>
              </a:rPr>
              <a:t>, not Hb-derived.</a:t>
            </a:r>
            <a:endParaRPr lang="en-US" sz="2025" dirty="0"/>
          </a:p>
        </p:txBody>
      </p:sp>
      <p:sp>
        <p:nvSpPr>
          <p:cNvPr id="16" name="Shape 11"/>
          <p:cNvSpPr/>
          <p:nvPr/>
        </p:nvSpPr>
        <p:spPr>
          <a:xfrm rot="2700000">
            <a:off x="9452223" y="4421981"/>
            <a:ext cx="76200" cy="76200"/>
          </a:xfrm>
          <a:prstGeom prst="rect">
            <a:avLst/>
          </a:prstGeom>
          <a:solidFill>
            <a:srgbClr val="7C1D2A"/>
          </a:solidFill>
          <a:ln/>
        </p:spPr>
      </p:sp>
      <p:sp>
        <p:nvSpPr>
          <p:cNvPr id="17" name="Text 12"/>
          <p:cNvSpPr/>
          <p:nvPr/>
        </p:nvSpPr>
        <p:spPr>
          <a:xfrm>
            <a:off x="9661773" y="4317206"/>
            <a:ext cx="7462455" cy="726281"/>
          </a:xfrm>
          <a:prstGeom prst="rect">
            <a:avLst/>
          </a:prstGeom>
          <a:noFill/>
          <a:ln/>
        </p:spPr>
        <p:txBody>
          <a:bodyPr wrap="square" lIns="25400" tIns="25400" rIns="25400" bIns="25400" rtlCol="0" anchor="t">
            <a:normAutofit/>
          </a:bodyPr>
          <a:lstStyle/>
          <a:p>
            <a:pPr algn="l" indent="0" marL="0">
              <a:lnSpc>
                <a:spcPct val="132000"/>
              </a:lnSpc>
              <a:buNone/>
            </a:pPr>
            <a:r>
              <a:rPr lang="en-US" sz="2025" dirty="0">
                <a:solidFill>
                  <a:srgbClr val="2A1A1B"/>
                </a:solidFill>
                <a:latin typeface="Arial" pitchFamily="34" charset="0"/>
                <a:ea typeface="Arial" pitchFamily="34" charset="-122"/>
                <a:cs typeface="Arial" pitchFamily="34" charset="-120"/>
              </a:rPr>
              <a:t>Add </a:t>
            </a:r>
            <a:pPr algn="l" indent="0" marL="0">
              <a:lnSpc>
                <a:spcPct val="132000"/>
              </a:lnSpc>
              <a:buNone/>
            </a:pPr>
            <a:r>
              <a:rPr lang="en-US" sz="2025" b="1" dirty="0">
                <a:solidFill>
                  <a:srgbClr val="2A1A1B"/>
                </a:solidFill>
                <a:latin typeface="Arial" pitchFamily="34" charset="0"/>
                <a:ea typeface="Arial" pitchFamily="34" charset="-122"/>
                <a:cs typeface="Arial" pitchFamily="34" charset="-120"/>
              </a:rPr>
              <a:t>RBC and Haematocrit </a:t>
            </a:r>
            <a:pPr algn="l" indent="0" marL="0">
              <a:lnSpc>
                <a:spcPct val="132000"/>
              </a:lnSpc>
              <a:buNone/>
            </a:pPr>
            <a:r>
              <a:rPr lang="en-US" sz="2025" dirty="0">
                <a:solidFill>
                  <a:srgbClr val="2A1A1B"/>
                </a:solidFill>
                <a:latin typeface="Arial" pitchFamily="34" charset="0"/>
                <a:ea typeface="Arial" pitchFamily="34" charset="-122"/>
                <a:cs typeface="Arial" pitchFamily="34" charset="-120"/>
              </a:rPr>
              <a:t>— in the original spec, missing from this dataset.</a:t>
            </a:r>
            <a:endParaRPr lang="en-US" sz="2025" dirty="0"/>
          </a:p>
        </p:txBody>
      </p:sp>
      <p:sp>
        <p:nvSpPr>
          <p:cNvPr id="18" name="Shape 13"/>
          <p:cNvSpPr/>
          <p:nvPr/>
        </p:nvSpPr>
        <p:spPr>
          <a:xfrm rot="2700000">
            <a:off x="9452223" y="5262563"/>
            <a:ext cx="76200" cy="76200"/>
          </a:xfrm>
          <a:prstGeom prst="rect">
            <a:avLst/>
          </a:prstGeom>
          <a:solidFill>
            <a:srgbClr val="7C1D2A"/>
          </a:solidFill>
          <a:ln/>
        </p:spPr>
      </p:sp>
      <p:sp>
        <p:nvSpPr>
          <p:cNvPr id="19" name="Text 14"/>
          <p:cNvSpPr/>
          <p:nvPr/>
        </p:nvSpPr>
        <p:spPr>
          <a:xfrm>
            <a:off x="9661773" y="5157788"/>
            <a:ext cx="7462455" cy="726281"/>
          </a:xfrm>
          <a:prstGeom prst="rect">
            <a:avLst/>
          </a:prstGeom>
          <a:noFill/>
          <a:ln/>
        </p:spPr>
        <p:txBody>
          <a:bodyPr wrap="square" lIns="25400" tIns="25400" rIns="25400" bIns="25400" rtlCol="0" anchor="t">
            <a:normAutofit/>
          </a:bodyPr>
          <a:lstStyle/>
          <a:p>
            <a:pPr algn="l" indent="0" marL="0">
              <a:lnSpc>
                <a:spcPct val="132000"/>
              </a:lnSpc>
              <a:buNone/>
            </a:pPr>
            <a:r>
              <a:rPr lang="en-US" sz="2025" dirty="0">
                <a:solidFill>
                  <a:srgbClr val="2A1A1B"/>
                </a:solidFill>
                <a:latin typeface="Arial" pitchFamily="34" charset="0"/>
                <a:ea typeface="Arial" pitchFamily="34" charset="-122"/>
                <a:cs typeface="Arial" pitchFamily="34" charset="-120"/>
              </a:rPr>
              <a:t>Extend to </a:t>
            </a:r>
            <a:pPr algn="l" indent="0" marL="0">
              <a:lnSpc>
                <a:spcPct val="132000"/>
              </a:lnSpc>
              <a:buNone/>
            </a:pPr>
            <a:r>
              <a:rPr lang="en-US" sz="2025" b="1" dirty="0">
                <a:solidFill>
                  <a:srgbClr val="2A1A1B"/>
                </a:solidFill>
                <a:latin typeface="Arial" pitchFamily="34" charset="0"/>
                <a:ea typeface="Arial" pitchFamily="34" charset="-122"/>
                <a:cs typeface="Arial" pitchFamily="34" charset="-120"/>
              </a:rPr>
              <a:t>anaemia-type classification </a:t>
            </a:r>
            <a:pPr algn="l" indent="0" marL="0">
              <a:lnSpc>
                <a:spcPct val="132000"/>
              </a:lnSpc>
              <a:buNone/>
            </a:pPr>
            <a:r>
              <a:rPr lang="en-US" sz="2025" dirty="0">
                <a:solidFill>
                  <a:srgbClr val="2A1A1B"/>
                </a:solidFill>
                <a:latin typeface="Arial" pitchFamily="34" charset="0"/>
                <a:ea typeface="Arial" pitchFamily="34" charset="-122"/>
                <a:cs typeface="Arial" pitchFamily="34" charset="-120"/>
              </a:rPr>
              <a:t>(microcytic / normocytic / macrocytic) — the genuinely hard ML problem.</a:t>
            </a:r>
            <a:endParaRPr lang="en-US" sz="2025" dirty="0"/>
          </a:p>
        </p:txBody>
      </p:sp>
      <p:sp>
        <p:nvSpPr>
          <p:cNvPr id="20" name="Shape 15"/>
          <p:cNvSpPr/>
          <p:nvPr/>
        </p:nvSpPr>
        <p:spPr>
          <a:xfrm rot="2700000">
            <a:off x="9452223" y="6103144"/>
            <a:ext cx="76200" cy="76200"/>
          </a:xfrm>
          <a:prstGeom prst="rect">
            <a:avLst/>
          </a:prstGeom>
          <a:solidFill>
            <a:srgbClr val="7C1D2A"/>
          </a:solidFill>
          <a:ln/>
        </p:spPr>
      </p:sp>
      <p:sp>
        <p:nvSpPr>
          <p:cNvPr id="21" name="Text 16"/>
          <p:cNvSpPr/>
          <p:nvPr/>
        </p:nvSpPr>
        <p:spPr>
          <a:xfrm>
            <a:off x="9661773" y="5998369"/>
            <a:ext cx="5894903" cy="386953"/>
          </a:xfrm>
          <a:prstGeom prst="rect">
            <a:avLst/>
          </a:prstGeom>
          <a:noFill/>
          <a:ln/>
        </p:spPr>
        <p:txBody>
          <a:bodyPr wrap="square" lIns="25400" tIns="25400" rIns="25400" bIns="25400" rtlCol="0" anchor="t">
            <a:normAutofit/>
          </a:bodyPr>
          <a:lstStyle/>
          <a:p>
            <a:pPr algn="l" indent="0" marL="0">
              <a:lnSpc>
                <a:spcPct val="132000"/>
              </a:lnSpc>
              <a:buNone/>
            </a:pPr>
            <a:r>
              <a:rPr lang="en-US" sz="2025" b="1" dirty="0">
                <a:solidFill>
                  <a:srgbClr val="2A1A1B"/>
                </a:solidFill>
                <a:latin typeface="Arial" pitchFamily="34" charset="0"/>
                <a:ea typeface="Arial" pitchFamily="34" charset="-122"/>
                <a:cs typeface="Arial" pitchFamily="34" charset="-120"/>
              </a:rPr>
              <a:t>Clinical validation </a:t>
            </a:r>
            <a:pPr algn="l" indent="0" marL="0">
              <a:lnSpc>
                <a:spcPct val="132000"/>
              </a:lnSpc>
              <a:buNone/>
            </a:pPr>
            <a:r>
              <a:rPr lang="en-US" sz="2025" dirty="0">
                <a:solidFill>
                  <a:srgbClr val="2A1A1B"/>
                </a:solidFill>
                <a:latin typeface="Arial" pitchFamily="34" charset="0"/>
                <a:ea typeface="Arial" pitchFamily="34" charset="-122"/>
                <a:cs typeface="Arial" pitchFamily="34" charset="-120"/>
              </a:rPr>
              <a:t>before any real-world use.</a:t>
            </a:r>
            <a:endParaRPr lang="en-US" sz="2025" dirty="0"/>
          </a:p>
        </p:txBody>
      </p:sp>
      <p:sp>
        <p:nvSpPr>
          <p:cNvPr id="22" name="Shape 17"/>
          <p:cNvSpPr/>
          <p:nvPr/>
        </p:nvSpPr>
        <p:spPr>
          <a:xfrm>
            <a:off x="4996160" y="8963025"/>
            <a:ext cx="8295680" cy="581025"/>
          </a:xfrm>
          <a:prstGeom prst="roundRect">
            <a:avLst>
              <a:gd name="adj" fmla="val 50000"/>
            </a:avLst>
          </a:prstGeom>
          <a:solidFill>
            <a:srgbClr val="EFDCD8"/>
          </a:solidFill>
          <a:ln w="9525">
            <a:solidFill>
              <a:srgbClr val="E3C9C4"/>
            </a:solidFill>
            <a:prstDash val="solid"/>
          </a:ln>
        </p:spPr>
      </p:sp>
      <p:sp>
        <p:nvSpPr>
          <p:cNvPr id="23" name="Text 18"/>
          <p:cNvSpPr/>
          <p:nvPr/>
        </p:nvSpPr>
        <p:spPr>
          <a:xfrm>
            <a:off x="5291435" y="9105900"/>
            <a:ext cx="7954000" cy="333375"/>
          </a:xfrm>
          <a:prstGeom prst="rect">
            <a:avLst/>
          </a:prstGeom>
          <a:noFill/>
          <a:ln/>
        </p:spPr>
        <p:txBody>
          <a:bodyPr wrap="square" lIns="25400" tIns="25400" rIns="25400" bIns="25400" rtlCol="0" anchor="ctr">
            <a:normAutofit/>
          </a:bodyPr>
          <a:lstStyle/>
          <a:p>
            <a:pPr algn="l" indent="0" marL="0">
              <a:buNone/>
            </a:pPr>
            <a:r>
              <a:rPr lang="en-US" sz="1800" spc="72" kern="0" dirty="0">
                <a:solidFill>
                  <a:srgbClr val="7C1D2A"/>
                </a:solidFill>
                <a:latin typeface="Courier New" pitchFamily="34" charset="0"/>
                <a:ea typeface="Courier New" pitchFamily="34" charset="-122"/>
                <a:cs typeface="Courier New" pitchFamily="34" charset="-120"/>
              </a:rPr>
              <a:t>⚠ Educational prototype only — not a diagnostic tool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2026-06-20T09:14:27Z</dcterms:created>
  <dcterms:modified xsi:type="dcterms:W3CDTF">2026-06-20T09:14:27Z</dcterms:modified>
</cp:coreProperties>
</file>